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7BE73DC-22F5-45CB-AF5C-870A42116A91}">
  <a:tblStyle styleId="{C7BE73DC-22F5-45CB-AF5C-870A42116A9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98C2F7D-EAA4-4774-B8E7-03194B14E69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" name="Google Shape;16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4" name="Google Shape;17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4" name="Google Shape;18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4" name="Google Shape;19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4" name="Google Shape;20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4" name="Google Shape;21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5" name="Google Shape;23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6" name="Google Shape;24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6" name="Google Shape;2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6" name="Google Shape;26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6" name="Google Shape;27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6" name="Google Shape;28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6" name="Google Shape;296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07" name="Google Shape;30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7" name="Google Shape;31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0" name="Google Shape;33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0" name="Google Shape;34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5" name="Google Shape;34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5" name="Google Shape;35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0" name="Google Shape;360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0" name="Google Shape;37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5" name="Google Shape;375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5" name="Google Shape;38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0" name="Google Shape;390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5" name="Google Shape;405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15" name="Google Shape;415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3" name="Google Shape;423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31" name="Google Shape;431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38" name="Google Shape;438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6" name="Google Shape;446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3" name="Google Shape;453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61" name="Google Shape;461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 dirty="0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evgN42dtPleHtd545rJsRWj6_1nQNsXH/view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rvej1-7alam/WsCube-DAMP-ML-Capstone/blob/main/Notebooks/ML_Capstone_Part1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rvej1-7alam/WsCube-DAMP-ML-Capstone/blob/main/Notebooks/ML_Capstone_Part2.ipynb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hyperlink" Target="https://github.com/parvej1-7alam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parvejalam17knp@gmail.com" TargetMode="External"/><Relationship Id="rId5" Type="http://schemas.openxmlformats.org/officeDocument/2006/relationships/hyperlink" Target="https://www.linkedin.com/in/parvej-alam17/" TargetMode="External"/><Relationship Id="rId4" Type="http://schemas.openxmlformats.org/officeDocument/2006/relationships/image" Target="../media/image21.png"/><Relationship Id="rId9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ctrTitle"/>
          </p:nvPr>
        </p:nvSpPr>
        <p:spPr>
          <a:xfrm>
            <a:off x="5574567" y="1326645"/>
            <a:ext cx="5673213" cy="1135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 dirty="0"/>
              <a:t>Global Fashion Retail Analytics Capstone Project</a:t>
            </a:r>
            <a:endParaRPr sz="3200" b="1" dirty="0"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7280400" y="5325294"/>
            <a:ext cx="2286339" cy="772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By</a:t>
            </a:r>
            <a:r>
              <a:rPr lang="en-US" sz="2400" dirty="0">
                <a:latin typeface="Calibri"/>
                <a:ea typeface="Calibri"/>
                <a:cs typeface="Calibri"/>
                <a:sym typeface="Calibri"/>
              </a:rPr>
              <a:t>- Parvej Alam</a:t>
            </a:r>
            <a:endParaRPr sz="2400" dirty="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288001" y="1002934"/>
            <a:ext cx="4639034" cy="5152008"/>
            <a:chOff x="216000" y="752200"/>
            <a:chExt cx="3479275" cy="3864006"/>
          </a:xfrm>
        </p:grpSpPr>
        <p:sp>
          <p:nvSpPr>
            <p:cNvPr id="87" name="Google Shape;87;p13"/>
            <p:cNvSpPr/>
            <p:nvPr/>
          </p:nvSpPr>
          <p:spPr>
            <a:xfrm>
              <a:off x="216000" y="1148506"/>
              <a:ext cx="3467700" cy="3467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  <a:effectLst>
              <a:outerShdw blurRad="285750" dist="285750" dir="7800000" algn="bl" rotWithShape="0">
                <a:schemeClr val="dk1">
                  <a:alpha val="4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zzzz</a:t>
              </a:r>
              <a:endParaRPr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88" name="Google Shape;88;p13"/>
            <p:cNvGrpSpPr/>
            <p:nvPr/>
          </p:nvGrpSpPr>
          <p:grpSpPr>
            <a:xfrm>
              <a:off x="216000" y="752200"/>
              <a:ext cx="3479275" cy="171000"/>
              <a:chOff x="216000" y="752200"/>
              <a:chExt cx="3479275" cy="171000"/>
            </a:xfrm>
          </p:grpSpPr>
          <p:sp>
            <p:nvSpPr>
              <p:cNvPr id="89" name="Google Shape;89;p13"/>
              <p:cNvSpPr/>
              <p:nvPr/>
            </p:nvSpPr>
            <p:spPr>
              <a:xfrm>
                <a:off x="216000" y="752200"/>
                <a:ext cx="181800" cy="1710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  <a:effectLst>
                <a:outerShdw blurRad="285750" dist="285750" dir="7800000" algn="bl" rotWithShape="0">
                  <a:schemeClr val="dk1">
                    <a:alpha val="40000"/>
                  </a:schemeClr>
                </a:outerShdw>
              </a:effectLst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" name="Google Shape;90;p13"/>
              <p:cNvSpPr/>
              <p:nvPr/>
            </p:nvSpPr>
            <p:spPr>
              <a:xfrm>
                <a:off x="576175" y="752200"/>
                <a:ext cx="3119100" cy="1710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  <a:effectLst>
                <a:outerShdw blurRad="285750" dist="285750" dir="7800000" algn="bl" rotWithShape="0">
                  <a:schemeClr val="dk1">
                    <a:alpha val="40000"/>
                  </a:schemeClr>
                </a:outerShdw>
              </a:effectLst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91" name="Google Shape;91;p13"/>
          <p:cNvCxnSpPr/>
          <p:nvPr/>
        </p:nvCxnSpPr>
        <p:spPr>
          <a:xfrm>
            <a:off x="5578798" y="2432971"/>
            <a:ext cx="5688646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13"/>
          <p:cNvSpPr txBox="1"/>
          <p:nvPr/>
        </p:nvSpPr>
        <p:spPr>
          <a:xfrm>
            <a:off x="5574567" y="2432971"/>
            <a:ext cx="5673213" cy="639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Calibri"/>
              <a:buNone/>
            </a:pPr>
            <a:r>
              <a:rPr lang="en-US" sz="2000" b="1" i="0" u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Insights from SQL, Power BI, and Machine Learning</a:t>
            </a:r>
            <a:endParaRPr dirty="0"/>
          </a:p>
        </p:txBody>
      </p:sp>
      <p:pic>
        <p:nvPicPr>
          <p:cNvPr id="93" name="Google Shape;93;p13"/>
          <p:cNvPicPr preferRelativeResize="0"/>
          <p:nvPr/>
        </p:nvPicPr>
        <p:blipFill rotWithShape="1">
          <a:blip r:embed="rId3">
            <a:alphaModFix/>
          </a:blip>
          <a:srcRect l="9723" r="9723"/>
          <a:stretch/>
        </p:blipFill>
        <p:spPr>
          <a:xfrm>
            <a:off x="348172" y="1588960"/>
            <a:ext cx="4503258" cy="4508363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4" name="Google Shape;94;p13"/>
          <p:cNvSpPr txBox="1"/>
          <p:nvPr/>
        </p:nvSpPr>
        <p:spPr>
          <a:xfrm>
            <a:off x="5537515" y="4178393"/>
            <a:ext cx="5771212" cy="521428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2000" b="1" u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Mentorship Program:</a:t>
            </a:r>
            <a:r>
              <a:rPr lang="en-US" sz="2000" b="0" u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WsCube Tech – Data Analytics</a:t>
            </a:r>
            <a:endParaRPr sz="2000" b="0" u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98323" y="68826"/>
            <a:ext cx="11995354" cy="6701585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 txBox="1"/>
          <p:nvPr/>
        </p:nvSpPr>
        <p:spPr>
          <a:xfrm>
            <a:off x="3302963" y="0"/>
            <a:ext cx="5586073" cy="4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960000" y="1240638"/>
            <a:ext cx="10272000" cy="4211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0" bIns="1219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Data Analyst at Global Fashion Retail, a multinational apparel brand with stores across multiple countries, your mission is to transform raw transactional and customer data into strategic insights. Your analysis will help the company: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Goal:</a:t>
            </a:r>
            <a:endParaRPr dirty="0"/>
          </a:p>
          <a:p>
            <a:pPr marL="1200150" marR="0" lvl="2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 product assortment and pricing strategies</a:t>
            </a:r>
            <a:endParaRPr dirty="0"/>
          </a:p>
          <a:p>
            <a:pPr marL="1200150" marR="0" lvl="2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high-value customers and improve retention</a:t>
            </a:r>
            <a:endParaRPr dirty="0"/>
          </a:p>
          <a:p>
            <a:pPr marL="1200150" marR="0" lvl="2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Measure promotion effectiveness</a:t>
            </a:r>
            <a:endParaRPr dirty="0"/>
          </a:p>
          <a:p>
            <a:pPr marL="1200150" marR="0" lvl="2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 returns and operational inefficiencies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capstone simulates a real-world, end-to-end analytics project, combining advanced SQL querying, interactive dashboards, and machine learning for predictive modeling.</a:t>
            </a:r>
            <a:endParaRPr dirty="0"/>
          </a:p>
        </p:txBody>
      </p:sp>
      <p:sp>
        <p:nvSpPr>
          <p:cNvPr id="102" name="Google Shape;102;p14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3495740" y="0"/>
            <a:ext cx="5200500" cy="5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TABLE OF CONTENTS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452284" y="973624"/>
            <a:ext cx="11287431" cy="5914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dirty="0"/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OBJECTIVES</a:t>
            </a:r>
            <a:endParaRPr dirty="0"/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 10 BUSINESS QUESTIONS (Query → Output → Key Insights → Recommendations)</a:t>
            </a:r>
            <a:endParaRPr dirty="0"/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Multi-page Power BI Dashboard Screenshots (Key Insights → Recommendations)</a:t>
            </a:r>
            <a:endParaRPr dirty="0"/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Machine Learning Overview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Prediction Model – Evaluation &amp; Summary</a:t>
            </a:r>
            <a:endParaRPr dirty="0"/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Demand Forecasting – Evaluation &amp; Summary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 Strategic Recommendations (Overall)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169109" y="2947067"/>
            <a:ext cx="3657000" cy="30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285750" marR="0" lvl="0" indent="-285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Perform data-driven analysis using SQL to answer 10 business questions</a:t>
            </a:r>
            <a:endParaRPr dirty="0"/>
          </a:p>
          <a:p>
            <a:pPr marL="285750" marR="0" lvl="0" indent="-158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 an interactive Power BI dashboard for executive insights</a:t>
            </a:r>
            <a:endParaRPr dirty="0"/>
          </a:p>
          <a:p>
            <a:pPr marL="285750" marR="0" lvl="0" indent="-158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 ML models to predict returns and forecast sales</a:t>
            </a:r>
            <a:endParaRPr dirty="0"/>
          </a:p>
        </p:txBody>
      </p:sp>
      <p:sp>
        <p:nvSpPr>
          <p:cNvPr id="115" name="Google Shape;115;p16"/>
          <p:cNvSpPr txBox="1"/>
          <p:nvPr/>
        </p:nvSpPr>
        <p:spPr>
          <a:xfrm>
            <a:off x="8103576" y="2947067"/>
            <a:ext cx="4088423" cy="3523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Data extraction &amp; business query analysis</a:t>
            </a:r>
            <a:endParaRPr dirty="0"/>
          </a:p>
          <a:p>
            <a:pPr marL="342900" marR="0" lvl="0" indent="-215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Power BI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Dashboard visualization</a:t>
            </a:r>
            <a:endParaRPr dirty="0"/>
          </a:p>
          <a:p>
            <a:pPr marL="342900" marR="0" lvl="0" indent="-215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(ML)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Predictive analytics &amp; forecasting</a:t>
            </a:r>
            <a:endParaRPr dirty="0"/>
          </a:p>
        </p:txBody>
      </p:sp>
      <p:sp>
        <p:nvSpPr>
          <p:cNvPr id="116" name="Google Shape;116;p16"/>
          <p:cNvSpPr txBox="1"/>
          <p:nvPr/>
        </p:nvSpPr>
        <p:spPr>
          <a:xfrm>
            <a:off x="1391140" y="2337467"/>
            <a:ext cx="1647027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SCOPE</a:t>
            </a:r>
            <a:endParaRPr dirty="0"/>
          </a:p>
        </p:txBody>
      </p:sp>
      <p:sp>
        <p:nvSpPr>
          <p:cNvPr id="117" name="Google Shape;117;p16"/>
          <p:cNvSpPr txBox="1"/>
          <p:nvPr/>
        </p:nvSpPr>
        <p:spPr>
          <a:xfrm>
            <a:off x="8605348" y="2337467"/>
            <a:ext cx="2736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TOOLS USED</a:t>
            </a:r>
            <a:endParaRPr dirty="0"/>
          </a:p>
        </p:txBody>
      </p:sp>
      <p:sp>
        <p:nvSpPr>
          <p:cNvPr id="118" name="Google Shape;118;p16"/>
          <p:cNvSpPr txBox="1"/>
          <p:nvPr/>
        </p:nvSpPr>
        <p:spPr>
          <a:xfrm>
            <a:off x="4974467" y="2397142"/>
            <a:ext cx="2736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3615300" y="0"/>
            <a:ext cx="49614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dirty="0"/>
          </a:p>
        </p:txBody>
      </p:sp>
      <p:sp>
        <p:nvSpPr>
          <p:cNvPr id="120" name="Google Shape;120;p16"/>
          <p:cNvSpPr txBox="1"/>
          <p:nvPr/>
        </p:nvSpPr>
        <p:spPr>
          <a:xfrm>
            <a:off x="2014527" y="1481617"/>
            <a:ext cx="8656681" cy="9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project focuses on analyzing </a:t>
            </a:r>
            <a:r>
              <a:rPr lang="en-US" sz="20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Global Fashion Retail’s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operations to uncover insights that support strategic decisions.</a:t>
            </a:r>
            <a:endParaRPr dirty="0"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080386" y="3409336"/>
          <a:ext cx="3574150" cy="2926100"/>
        </p:xfrm>
        <a:graphic>
          <a:graphicData uri="http://schemas.openxmlformats.org/drawingml/2006/table">
            <a:tbl>
              <a:tblPr firstRow="1" bandRow="1">
                <a:noFill/>
                <a:tableStyleId>{C7BE73DC-22F5-45CB-AF5C-870A42116A91}</a:tableStyleId>
              </a:tblPr>
              <a:tblGrid>
                <a:gridCol w="178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63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DATASET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SOURCE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TIME PERIOD COVERD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4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sng" strike="noStrike" cap="none" dirty="0">
                          <a:solidFill>
                            <a:schemeClr val="hlink"/>
                          </a:solidFill>
                          <a:hlinkClick r:id="rId3"/>
                        </a:rPr>
                        <a:t>https://drive.google.com/file/d/1evgN42dtPleHtd545rJsRWj6_1nQNsXH/view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JAN 2023 TO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MAR 2025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2" name="Google Shape;122;p16" descr="Daily calendar with solid fil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07111" y="2904904"/>
            <a:ext cx="9144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6" descr="Database with solid fil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82157" y="2984484"/>
            <a:ext cx="1035198" cy="77571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/>
          <p:nvPr/>
        </p:nvSpPr>
        <p:spPr>
          <a:xfrm>
            <a:off x="3489450" y="0"/>
            <a:ext cx="5213100" cy="8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OBJECTIVES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452283" y="1533832"/>
            <a:ext cx="11287433" cy="467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Insights Extraction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advanced SQL to extract business-critical insights from Global Fashion Retail’s operations, enabling leadership to make informed strategic decisions.</a:t>
            </a:r>
            <a:endParaRPr dirty="0"/>
          </a:p>
          <a:p>
            <a:pPr marL="228600" marR="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 a multi-page Power BI dashboard to visualize sales trends, product performance, promotions, and customer behavior for executive-level analytics.</a:t>
            </a:r>
            <a:endParaRPr dirty="0"/>
          </a:p>
          <a:p>
            <a:pPr marL="228600" marR="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❑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Machine Learning Applications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 ML models to predict returns and forecast demand, optimizing operations and inventory management.</a:t>
            </a:r>
            <a:endParaRPr dirty="0"/>
          </a:p>
        </p:txBody>
      </p:sp>
      <p:sp>
        <p:nvSpPr>
          <p:cNvPr id="131" name="Google Shape;131;p17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/>
          <p:nvPr/>
        </p:nvSpPr>
        <p:spPr>
          <a:xfrm>
            <a:off x="532732" y="1009065"/>
            <a:ext cx="11126522" cy="663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Retrieve the number of unique customers by country and city along with their average purchase value.</a:t>
            </a:r>
            <a:endParaRPr dirty="0"/>
          </a:p>
        </p:txBody>
      </p:sp>
      <p:sp>
        <p:nvSpPr>
          <p:cNvPr id="137" name="Google Shape;137;p18"/>
          <p:cNvSpPr txBox="1"/>
          <p:nvPr/>
        </p:nvSpPr>
        <p:spPr>
          <a:xfrm>
            <a:off x="1471111" y="0"/>
            <a:ext cx="8738103" cy="418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Customer Demographics Analysis</a:t>
            </a:r>
            <a:b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7182" y="2259727"/>
            <a:ext cx="8125959" cy="135273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8"/>
          <p:cNvSpPr/>
          <p:nvPr/>
        </p:nvSpPr>
        <p:spPr>
          <a:xfrm>
            <a:off x="2448392" y="4199589"/>
            <a:ext cx="6783538" cy="1834068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0" name="Google Shape;140;p18"/>
          <p:cNvGraphicFramePr/>
          <p:nvPr/>
        </p:nvGraphicFramePr>
        <p:xfrm>
          <a:off x="2610266" y="4300110"/>
          <a:ext cx="6459775" cy="163305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181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Country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City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Num_of_Unique_Cust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Avg_Purchase_Value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Deutschland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Ahrensburg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101.96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Deutschland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Altona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101.75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Deutschland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Bad Homburg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86.05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Deutschland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Barsinghausen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22.97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Deutschland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Bergedorf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101.86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1" name="Google Shape;141;p18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9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9"/>
          <p:cNvSpPr txBox="1"/>
          <p:nvPr/>
        </p:nvSpPr>
        <p:spPr>
          <a:xfrm>
            <a:off x="672184" y="1157546"/>
            <a:ext cx="5063643" cy="5262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Concentration 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Cities like Altona, Bergedorf, and Ahrensburg have the highest number of unique customers (≈1500+ each), indicating they are major customer hubs.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Purchase Value Variance: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There’s a wide range in average purchase value — for instance, Bad Homburg has a lower average (≈86), while Barsinghausen is significantly lower (≈23), showing different spending behaviors.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High-Value Cities: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Cities with both high customer counts and high average purchase values (like Altona &amp; Bergedorf) represent core revenue centers.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 Engagement Areas: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Cities with low purchase values and fewer customers (like Barsinghausen) may indicate emerging or underperforming markets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rgbClr val="C6282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/>
          <p:cNvSpPr txBox="1"/>
          <p:nvPr/>
        </p:nvSpPr>
        <p:spPr>
          <a:xfrm>
            <a:off x="6424063" y="1157546"/>
            <a:ext cx="5063643" cy="4031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 on High-Value Cities: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Strengthen marketing and retention in top-performing cities (Altona, Ahrensburg, Bergedorf) to boost ROI.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 Low-Value Regions: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and address factors behind low purchase values (e.g., pricing or awareness) in cities like Barsinghausen.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Targeted Customer Segmentation: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demographic and geographic insights to deliver region-specific offers.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Boost Mid-Tier Markets: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loyalty programs or promotions in moderate-performing cities to increase customer spend.</a:t>
            </a:r>
            <a:endParaRPr dirty="0"/>
          </a:p>
        </p:txBody>
      </p:sp>
      <p:sp>
        <p:nvSpPr>
          <p:cNvPr id="150" name="Google Shape;150;p19"/>
          <p:cNvSpPr txBox="1"/>
          <p:nvPr/>
        </p:nvSpPr>
        <p:spPr>
          <a:xfrm>
            <a:off x="2041199" y="309725"/>
            <a:ext cx="2325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151" name="Google Shape;151;p19"/>
          <p:cNvSpPr txBox="1"/>
          <p:nvPr/>
        </p:nvSpPr>
        <p:spPr>
          <a:xfrm>
            <a:off x="7261200" y="309725"/>
            <a:ext cx="3389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0"/>
          <p:cNvSpPr txBox="1"/>
          <p:nvPr/>
        </p:nvSpPr>
        <p:spPr>
          <a:xfrm>
            <a:off x="613191" y="1035817"/>
            <a:ext cx="10965605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Calculate the percentage of returns compared to total transactions and track how it changes monthly.</a:t>
            </a:r>
            <a:endParaRPr dirty="0"/>
          </a:p>
        </p:txBody>
      </p:sp>
      <p:sp>
        <p:nvSpPr>
          <p:cNvPr id="157" name="Google Shape;157;p20"/>
          <p:cNvSpPr txBox="1"/>
          <p:nvPr/>
        </p:nvSpPr>
        <p:spPr>
          <a:xfrm>
            <a:off x="2966753" y="0"/>
            <a:ext cx="6258451" cy="715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Sales vs Returns Trends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8539" y="1991809"/>
            <a:ext cx="9554908" cy="178142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0"/>
          <p:cNvSpPr/>
          <p:nvPr/>
        </p:nvSpPr>
        <p:spPr>
          <a:xfrm>
            <a:off x="2704224" y="4315259"/>
            <a:ext cx="6783538" cy="1786295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0" name="Google Shape;160;p20"/>
          <p:cNvGraphicFramePr/>
          <p:nvPr/>
        </p:nvGraphicFramePr>
        <p:xfrm>
          <a:off x="2841517" y="4434976"/>
          <a:ext cx="6508925" cy="154689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81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7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6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SaleYear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SaleMonth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TotalSalesAmount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TotalReturnAmount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PercentReturn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14793539.65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891617.87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6.00%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12044607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700397.21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5.80%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32054421.6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1808846.41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5.60%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24753445.5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1344153.53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5.40%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25428006.75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1348670.74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5.30%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19564096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1096634.34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5.60%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1" name="Google Shape;161;p20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1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1"/>
          <p:cNvSpPr txBox="1"/>
          <p:nvPr/>
        </p:nvSpPr>
        <p:spPr>
          <a:xfrm>
            <a:off x="672184" y="1157546"/>
            <a:ext cx="5063643" cy="378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Declining Return Rate: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percentage dropped from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6.0% (Jan)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5.3% (May 2023)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reflecting better quality or satisfaction.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Sales Peak: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 2023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saw the highest sales (₹32.05M), likely due to promotions or seasonal demand.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Absolute Returns: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Even with lower return %, total return value stayed high because of large sales volumes.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Inverse Relationship: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Higher sales months showed slightly lower return percentages.</a:t>
            </a:r>
            <a:endParaRPr dirty="0"/>
          </a:p>
        </p:txBody>
      </p:sp>
      <p:sp>
        <p:nvSpPr>
          <p:cNvPr id="169" name="Google Shape;169;p21"/>
          <p:cNvSpPr txBox="1"/>
          <p:nvPr/>
        </p:nvSpPr>
        <p:spPr>
          <a:xfrm>
            <a:off x="6424063" y="1157546"/>
            <a:ext cx="5063643" cy="378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 Quality: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 on product improvements and customer support to keep returns under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Leverage Sales Drivers: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and replicate factors behind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March’s success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upcoming periods.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 High Returns: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top-return products or vendors and take corrective actions.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 Strategically: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sales–return trends for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accurate forecasting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campaign planning.</a:t>
            </a:r>
            <a:endParaRPr dirty="0"/>
          </a:p>
        </p:txBody>
      </p:sp>
      <p:sp>
        <p:nvSpPr>
          <p:cNvPr id="170" name="Google Shape;170;p21"/>
          <p:cNvSpPr txBox="1"/>
          <p:nvPr/>
        </p:nvSpPr>
        <p:spPr>
          <a:xfrm>
            <a:off x="2022149" y="309725"/>
            <a:ext cx="2363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171" name="Google Shape;171;p21"/>
          <p:cNvSpPr txBox="1"/>
          <p:nvPr/>
        </p:nvSpPr>
        <p:spPr>
          <a:xfrm>
            <a:off x="7245900" y="309725"/>
            <a:ext cx="342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2"/>
          <p:cNvSpPr txBox="1"/>
          <p:nvPr/>
        </p:nvSpPr>
        <p:spPr>
          <a:xfrm>
            <a:off x="2004209" y="1014901"/>
            <a:ext cx="8183563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the top categories by total revenue and their share in overall sales.</a:t>
            </a:r>
            <a:endParaRPr dirty="0"/>
          </a:p>
        </p:txBody>
      </p:sp>
      <p:sp>
        <p:nvSpPr>
          <p:cNvPr id="177" name="Google Shape;177;p22"/>
          <p:cNvSpPr txBox="1"/>
          <p:nvPr/>
        </p:nvSpPr>
        <p:spPr>
          <a:xfrm>
            <a:off x="2607856" y="0"/>
            <a:ext cx="6976248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Top Performing Categories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9957" y="2085788"/>
            <a:ext cx="9612066" cy="1343212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2"/>
          <p:cNvSpPr/>
          <p:nvPr/>
        </p:nvSpPr>
        <p:spPr>
          <a:xfrm>
            <a:off x="2756833" y="4137993"/>
            <a:ext cx="6678313" cy="1609824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0" name="Google Shape;180;p22"/>
          <p:cNvGraphicFramePr/>
          <p:nvPr/>
        </p:nvGraphicFramePr>
        <p:xfrm>
          <a:off x="2902968" y="4248011"/>
          <a:ext cx="6386025" cy="138980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71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Rev_Share_Pct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Feminine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340685345.8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46.49%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Masculine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326979394.6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44.62%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Children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65080134.57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8.88%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1" name="Google Shape;181;p22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3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3"/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Feminine 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contributes the highest revenue (₹340.7M), accounting for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46.49%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total sales.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Masculine 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follows closely with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₹326.9M (44.62%)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showing strong demand.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 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generates only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8.88%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sales, indicating a smaller market presence.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Together, Feminine and Masculine segments dominate with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91%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total revenue.</a:t>
            </a:r>
            <a:endParaRPr dirty="0"/>
          </a:p>
        </p:txBody>
      </p:sp>
      <p:sp>
        <p:nvSpPr>
          <p:cNvPr id="189" name="Google Shape;189;p23"/>
          <p:cNvSpPr txBox="1"/>
          <p:nvPr/>
        </p:nvSpPr>
        <p:spPr>
          <a:xfrm>
            <a:off x="6424063" y="1157546"/>
            <a:ext cx="5063643" cy="3293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Prioritize Feminine &amp; Masculine lines</a:t>
            </a:r>
            <a:r>
              <a:rPr lang="en-US" sz="1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focus marketing, inventory, and new launches here to maximize ROI.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Expand Children category</a:t>
            </a:r>
            <a:r>
              <a:rPr lang="en-US" sz="1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through targeted campaigns, bundling, or new product introductions.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Diversify offerings</a:t>
            </a:r>
            <a:r>
              <a:rPr lang="en-US" sz="1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reduce over-reliance on top two segments.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Analyze subcategory trends</a:t>
            </a:r>
            <a:r>
              <a:rPr lang="en-US" sz="1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within Feminine and Masculine to identify high-growth niches.</a:t>
            </a:r>
            <a:endParaRPr dirty="0"/>
          </a:p>
        </p:txBody>
      </p:sp>
      <p:sp>
        <p:nvSpPr>
          <p:cNvPr id="190" name="Google Shape;190;p23"/>
          <p:cNvSpPr txBox="1"/>
          <p:nvPr/>
        </p:nvSpPr>
        <p:spPr>
          <a:xfrm>
            <a:off x="2068349" y="319975"/>
            <a:ext cx="2271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191" name="Google Shape;191;p23"/>
          <p:cNvSpPr txBox="1"/>
          <p:nvPr/>
        </p:nvSpPr>
        <p:spPr>
          <a:xfrm>
            <a:off x="7266450" y="319975"/>
            <a:ext cx="3378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/>
        </p:nvSpPr>
        <p:spPr>
          <a:xfrm>
            <a:off x="1523992" y="884168"/>
            <a:ext cx="9144000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total sales volume and average basket value across payment methods.</a:t>
            </a:r>
            <a:endParaRPr dirty="0"/>
          </a:p>
        </p:txBody>
      </p:sp>
      <p:sp>
        <p:nvSpPr>
          <p:cNvPr id="197" name="Google Shape;197;p24"/>
          <p:cNvSpPr txBox="1"/>
          <p:nvPr/>
        </p:nvSpPr>
        <p:spPr>
          <a:xfrm>
            <a:off x="2061737" y="0"/>
            <a:ext cx="80685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Payment Method Performance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4"/>
          <p:cNvSpPr/>
          <p:nvPr/>
        </p:nvSpPr>
        <p:spPr>
          <a:xfrm>
            <a:off x="2704224" y="4795764"/>
            <a:ext cx="6783538" cy="148467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4327" y="1971836"/>
            <a:ext cx="8983329" cy="233395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0" name="Google Shape;200;p24"/>
          <p:cNvGraphicFramePr/>
          <p:nvPr/>
        </p:nvGraphicFramePr>
        <p:xfrm>
          <a:off x="2837879" y="4913575"/>
          <a:ext cx="6516250" cy="124905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56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7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6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Payment_Method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Total_Sales_Volume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Total_Sales_Value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Avg_Basket_Value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Credit Card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3633549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621514010.4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171.05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Cash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906855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154546512.2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170.42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1" name="Google Shape;201;p24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5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5"/>
          <p:cNvSpPr txBox="1"/>
          <p:nvPr/>
        </p:nvSpPr>
        <p:spPr>
          <a:xfrm>
            <a:off x="672184" y="1157546"/>
            <a:ext cx="5063643" cy="501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Credit Card Dominates: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Credit Card transactions account for the highest sales volume (3.63M), significantly outperforming Cash payments (0.91M).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Higher Sales Value: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Credit Card payments also generate the highest total sales value (₹621.5M), contributing the majority of overall revenue.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 Basket Values: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basket value is almost the same for both methods (₹171 for Credit Card vs ₹170 for Cash), indicating consistent purchase behavior across methods.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Preference: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usage of Credit Cards suggests customer preference for digital and convenient payments over cash.</a:t>
            </a:r>
            <a:endParaRPr dirty="0"/>
          </a:p>
        </p:txBody>
      </p:sp>
      <p:sp>
        <p:nvSpPr>
          <p:cNvPr id="209" name="Google Shape;209;p25"/>
          <p:cNvSpPr txBox="1"/>
          <p:nvPr/>
        </p:nvSpPr>
        <p:spPr>
          <a:xfrm>
            <a:off x="6424063" y="1157546"/>
            <a:ext cx="5063643" cy="427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Promote Digital Payments: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Encourage credit/debit card and online payment options through cashback or loyalty points to maintain digital dominance.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Incentivize Cash Users: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Offer small discounts or reward points to shift cash users toward digital modes, improving transaction efficiency.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Monitor Transaction Fees: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Evaluate payment gateway charges for card transactions to ensure profitability is not affected.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Expand Payment Variety: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Introduce UPI or wallet-based options to further increase convenience and capture a broader audience.</a:t>
            </a:r>
            <a:endParaRPr dirty="0"/>
          </a:p>
        </p:txBody>
      </p:sp>
      <p:sp>
        <p:nvSpPr>
          <p:cNvPr id="210" name="Google Shape;210;p25"/>
          <p:cNvSpPr txBox="1"/>
          <p:nvPr/>
        </p:nvSpPr>
        <p:spPr>
          <a:xfrm>
            <a:off x="2094000" y="289225"/>
            <a:ext cx="222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211" name="Google Shape;211;p25"/>
          <p:cNvSpPr txBox="1"/>
          <p:nvPr/>
        </p:nvSpPr>
        <p:spPr>
          <a:xfrm>
            <a:off x="7261187" y="289225"/>
            <a:ext cx="3389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6"/>
          <p:cNvSpPr txBox="1"/>
          <p:nvPr/>
        </p:nvSpPr>
        <p:spPr>
          <a:xfrm>
            <a:off x="1288012" y="1044185"/>
            <a:ext cx="9615954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sales volume and revenue during discount periods versus non-discount periods.</a:t>
            </a:r>
            <a:endParaRPr dirty="0"/>
          </a:p>
        </p:txBody>
      </p:sp>
      <p:sp>
        <p:nvSpPr>
          <p:cNvPr id="217" name="Google Shape;217;p26"/>
          <p:cNvSpPr txBox="1"/>
          <p:nvPr/>
        </p:nvSpPr>
        <p:spPr>
          <a:xfrm>
            <a:off x="2503450" y="0"/>
            <a:ext cx="69843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Promotion Impact Analysis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8" name="Google Shape;218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70983" y="2300431"/>
            <a:ext cx="9050013" cy="153373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9" name="Google Shape;219;p26"/>
          <p:cNvGraphicFramePr/>
          <p:nvPr/>
        </p:nvGraphicFramePr>
        <p:xfrm>
          <a:off x="2812377" y="4690482"/>
          <a:ext cx="6567225" cy="81202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720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4288334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588589044.6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1788866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144155830.46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0" name="Google Shape;220;p26"/>
          <p:cNvSpPr/>
          <p:nvPr/>
        </p:nvSpPr>
        <p:spPr>
          <a:xfrm>
            <a:off x="2704221" y="4540970"/>
            <a:ext cx="6783538" cy="1111046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1" name="Google Shape;221;p26"/>
          <p:cNvGraphicFramePr/>
          <p:nvPr/>
        </p:nvGraphicFramePr>
        <p:xfrm>
          <a:off x="2802552" y="4690482"/>
          <a:ext cx="6567225" cy="81202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720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</a:t>
                      </a:r>
                      <a:b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</a:t>
                      </a:r>
                      <a:b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</a:t>
                      </a:r>
                      <a:b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</a:t>
                      </a:r>
                      <a:b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4288334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588589044.6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1788866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144155830.46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2" name="Google Shape;222;p26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7"/>
          <p:cNvSpPr txBox="1"/>
          <p:nvPr/>
        </p:nvSpPr>
        <p:spPr>
          <a:xfrm>
            <a:off x="672184" y="1157546"/>
            <a:ext cx="5063643" cy="427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Periodic Promotions: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Discounts were active intermittently across the full sales duration (2023–2025), not continuously.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Uneven Sales Rows: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1,788,866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discounted sales rows (29%)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vs. 4,288,334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non-discounted sales rows (71%)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indicating limited discount coverage.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Lower Sales &amp; Revenue: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Discount periods contributed less to overall sales volume and revenue, mainly due to fewer active promotional days.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Selective Campaigns: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smaller discount share suggests targeted or short-term promotions rather than ongoing discounts</a:t>
            </a:r>
            <a:endParaRPr dirty="0"/>
          </a:p>
        </p:txBody>
      </p:sp>
      <p:sp>
        <p:nvSpPr>
          <p:cNvPr id="230" name="Google Shape;230;p27"/>
          <p:cNvSpPr txBox="1"/>
          <p:nvPr/>
        </p:nvSpPr>
        <p:spPr>
          <a:xfrm>
            <a:off x="6424063" y="1157546"/>
            <a:ext cx="5063643" cy="378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 Promotion Timing: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Extend or align discounts with high-demand periods to lift sales contribution.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Per-Transaction Metrics: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average revenue per sale to assess real promotional effectiveness.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 Smartly: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 discounts on high-potential products or customer groups to maximize ROI.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Monitor &amp; Refine: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Continuously track sales and revenue trends during promotions to fine-tune strategy.</a:t>
            </a:r>
            <a:endParaRPr dirty="0"/>
          </a:p>
        </p:txBody>
      </p:sp>
      <p:sp>
        <p:nvSpPr>
          <p:cNvPr id="231" name="Google Shape;231;p27"/>
          <p:cNvSpPr txBox="1"/>
          <p:nvPr/>
        </p:nvSpPr>
        <p:spPr>
          <a:xfrm>
            <a:off x="2063249" y="289225"/>
            <a:ext cx="2281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232" name="Google Shape;232;p27"/>
          <p:cNvSpPr txBox="1"/>
          <p:nvPr/>
        </p:nvSpPr>
        <p:spPr>
          <a:xfrm>
            <a:off x="7215149" y="289225"/>
            <a:ext cx="3481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8"/>
          <p:cNvSpPr txBox="1"/>
          <p:nvPr/>
        </p:nvSpPr>
        <p:spPr>
          <a:xfrm>
            <a:off x="643999" y="1046179"/>
            <a:ext cx="10903984" cy="429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Measure the proportion of new versus repeat customers each month along with their average spend.</a:t>
            </a:r>
            <a:endParaRPr dirty="0"/>
          </a:p>
        </p:txBody>
      </p:sp>
      <p:sp>
        <p:nvSpPr>
          <p:cNvPr id="238" name="Google Shape;238;p28"/>
          <p:cNvSpPr txBox="1"/>
          <p:nvPr/>
        </p:nvSpPr>
        <p:spPr>
          <a:xfrm>
            <a:off x="2658888" y="0"/>
            <a:ext cx="68742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Customer Loyalty Tracking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9" name="Google Shape;239;p28"/>
          <p:cNvGraphicFramePr/>
          <p:nvPr/>
        </p:nvGraphicFramePr>
        <p:xfrm>
          <a:off x="2812377" y="4690482"/>
          <a:ext cx="6567225" cy="81202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720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4288334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588589044.6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1788866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144155830.46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0" name="Google Shape;240;p28"/>
          <p:cNvSpPr/>
          <p:nvPr/>
        </p:nvSpPr>
        <p:spPr>
          <a:xfrm>
            <a:off x="2704222" y="4609356"/>
            <a:ext cx="6783538" cy="1786295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2509" y="1889769"/>
            <a:ext cx="11926964" cy="23053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42" name="Google Shape;242;p28"/>
          <p:cNvGraphicFramePr/>
          <p:nvPr/>
        </p:nvGraphicFramePr>
        <p:xfrm>
          <a:off x="2812378" y="4701174"/>
          <a:ext cx="6567225" cy="160265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73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9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New_Customer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Repeat_customer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New_Avg_Spend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Repeat_Avg_Spend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110456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125.86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68575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9485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148.02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125.83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134769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29144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183.79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187.91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83311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36317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195.1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197.03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85055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50180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175.88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181.75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47897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38465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211.94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216.2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3" name="Google Shape;243;p28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9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9"/>
          <p:cNvSpPr txBox="1"/>
          <p:nvPr/>
        </p:nvSpPr>
        <p:spPr>
          <a:xfrm>
            <a:off x="672184" y="1157546"/>
            <a:ext cx="5063643" cy="477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New Customer Acquisition (Early Months):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January saw the highest influx of new customers (110K+), indicating strong initial marketing or launch impact.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Growing Repeat Customer Base: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customers increased steadily from February (9K) to May (50K+), showing improving retention month-over-month.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Spending Trend – Repeat Customers Lead: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March onward, repeat customers consistently spent slightly more per transaction (≈$188–$197) than new ones, suggesting loyalty value.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Declining New Customer Spend: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After peaking in April (~$195), average spend of new customers dipped in May (~$176), hinting at either smaller purchase sizes or promotional discounts.</a:t>
            </a:r>
            <a:endParaRPr dirty="0"/>
          </a:p>
        </p:txBody>
      </p:sp>
      <p:sp>
        <p:nvSpPr>
          <p:cNvPr id="251" name="Google Shape;251;p29"/>
          <p:cNvSpPr txBox="1"/>
          <p:nvPr/>
        </p:nvSpPr>
        <p:spPr>
          <a:xfrm>
            <a:off x="6424063" y="1157546"/>
            <a:ext cx="5063643" cy="427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Enhance Retention Campaigns: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Leverage loyalty programs, email reminders, and personalized offers to further increase repeat purchases.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Boost New Customer Conversion: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 onboarding and post-purchase engagement to encourage repeat behavior from new buyers.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Spend Drivers: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Investigate factors behind lower new customer spend—review product mix, pricing, and promotion structure.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Reward High-Value Repeat Customers: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top repeat spenders and offer exclusive benefits to reinforce brand loyalty and advocacy.</a:t>
            </a:r>
            <a:endParaRPr dirty="0"/>
          </a:p>
        </p:txBody>
      </p:sp>
      <p:sp>
        <p:nvSpPr>
          <p:cNvPr id="252" name="Google Shape;252;p29"/>
          <p:cNvSpPr txBox="1"/>
          <p:nvPr/>
        </p:nvSpPr>
        <p:spPr>
          <a:xfrm>
            <a:off x="2078550" y="299475"/>
            <a:ext cx="225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253" name="Google Shape;253;p29"/>
          <p:cNvSpPr txBox="1"/>
          <p:nvPr/>
        </p:nvSpPr>
        <p:spPr>
          <a:xfrm>
            <a:off x="7230449" y="299475"/>
            <a:ext cx="345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0"/>
          <p:cNvSpPr txBox="1"/>
          <p:nvPr/>
        </p:nvSpPr>
        <p:spPr>
          <a:xfrm>
            <a:off x="2625196" y="947472"/>
            <a:ext cx="6941584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the top and bottom stores by revenue and return rates.</a:t>
            </a:r>
            <a:endParaRPr dirty="0"/>
          </a:p>
        </p:txBody>
      </p:sp>
      <p:sp>
        <p:nvSpPr>
          <p:cNvPr id="259" name="Google Shape;259;p30"/>
          <p:cNvSpPr txBox="1"/>
          <p:nvPr/>
        </p:nvSpPr>
        <p:spPr>
          <a:xfrm>
            <a:off x="2515651" y="0"/>
            <a:ext cx="7160646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 Store Performance Ranking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0"/>
          <p:cNvSpPr/>
          <p:nvPr/>
        </p:nvSpPr>
        <p:spPr>
          <a:xfrm>
            <a:off x="2704218" y="4528965"/>
            <a:ext cx="6783538" cy="1786295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1296" y="1864879"/>
            <a:ext cx="10269383" cy="23053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62" name="Google Shape;262;p30"/>
          <p:cNvGraphicFramePr/>
          <p:nvPr/>
        </p:nvGraphicFramePr>
        <p:xfrm>
          <a:off x="2881349" y="4657808"/>
          <a:ext cx="6429250" cy="152865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285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5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5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Store_ID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Return_Rate_Pct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rev_rnk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return_rnk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3916189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4830092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1.32E+08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2270242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3448816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3" name="Google Shape;263;p30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1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31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1"/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 revenue store: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₹132,225,379.37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highest revenue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Bottom revenue store: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₹2,270,242.02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(lowest revenue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(lowest) return rate: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5.1%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returned (tie with Store 23 at 5.1%).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Worst (highest) return rate: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5.5%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returned.</a:t>
            </a:r>
            <a:endParaRPr dirty="0"/>
          </a:p>
        </p:txBody>
      </p:sp>
      <p:sp>
        <p:nvSpPr>
          <p:cNvPr id="271" name="Google Shape;271;p31"/>
          <p:cNvSpPr txBox="1"/>
          <p:nvPr/>
        </p:nvSpPr>
        <p:spPr>
          <a:xfrm>
            <a:off x="6424063" y="1157546"/>
            <a:ext cx="5063643" cy="501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Scale what’s working at Store 6: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 Store 6’s product mix, promotions, staffing, and footfall tactics; pilot those practices in similar-performing locations to increase revenue elsewhere.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Revive low-revenue stores (e.g., Store 18):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local promos, optimize assortment for local demand, and invest in staff training and visual merchandising.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Reward and replicate low-return practices: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Stores 35 &amp; 23 (5.1% returns) for customer service, quality control, and packaging practices — replicate across stores.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 high-return stores (Store 27):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Investigate causes (product quality, incorrect items, fulfillment errors, misleading descriptions). Prioritize root-cause fixes — product checks, clearer product info, or targeted staff retraining</a:t>
            </a:r>
            <a:endParaRPr dirty="0"/>
          </a:p>
        </p:txBody>
      </p:sp>
      <p:sp>
        <p:nvSpPr>
          <p:cNvPr id="272" name="Google Shape;272;p31"/>
          <p:cNvSpPr txBox="1"/>
          <p:nvPr/>
        </p:nvSpPr>
        <p:spPr>
          <a:xfrm>
            <a:off x="2073450" y="309725"/>
            <a:ext cx="2261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273" name="Google Shape;273;p31"/>
          <p:cNvSpPr txBox="1"/>
          <p:nvPr/>
        </p:nvSpPr>
        <p:spPr>
          <a:xfrm>
            <a:off x="7251000" y="309725"/>
            <a:ext cx="34098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2"/>
          <p:cNvSpPr txBox="1"/>
          <p:nvPr/>
        </p:nvSpPr>
        <p:spPr>
          <a:xfrm>
            <a:off x="961297" y="845065"/>
            <a:ext cx="10269382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Segment products into price bands and analyze their contribution to total revenue and returns.</a:t>
            </a:r>
            <a:endParaRPr dirty="0"/>
          </a:p>
        </p:txBody>
      </p:sp>
      <p:sp>
        <p:nvSpPr>
          <p:cNvPr id="279" name="Google Shape;279;p32"/>
          <p:cNvSpPr txBox="1"/>
          <p:nvPr/>
        </p:nvSpPr>
        <p:spPr>
          <a:xfrm>
            <a:off x="2923950" y="0"/>
            <a:ext cx="63441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8. Price Band Contribution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2"/>
          <p:cNvSpPr/>
          <p:nvPr/>
        </p:nvSpPr>
        <p:spPr>
          <a:xfrm>
            <a:off x="3731515" y="4937266"/>
            <a:ext cx="4728945" cy="1544869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" name="Google Shape;281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322" y="1562460"/>
            <a:ext cx="11995355" cy="308653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82" name="Google Shape;282;p32"/>
          <p:cNvGraphicFramePr/>
          <p:nvPr/>
        </p:nvGraphicFramePr>
        <p:xfrm>
          <a:off x="3871131" y="5057978"/>
          <a:ext cx="4449725" cy="130340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73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5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Product_Bands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Total_Return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 Products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390739539.1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23127145.03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Medium Products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249389332.4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14837255.68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High Products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92616003.47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5351246.92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3" name="Google Shape;283;p32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3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3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3"/>
          <p:cNvSpPr txBox="1"/>
          <p:nvPr/>
        </p:nvSpPr>
        <p:spPr>
          <a:xfrm>
            <a:off x="672184" y="1157546"/>
            <a:ext cx="5063643" cy="4524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Dominant Revenue Segment: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Low-priced products generate the highest revenue (~₹390.7M), contributing the largest share to total sales.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Balanced Mid-Tier Performance: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Medium-priced products contribute a significant ₹249.3M, indicating stable demand in the mid-price range.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High-Price Niche Market: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High-priced products account for only ₹92.6M, showing limited but premium-focused demand.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Trends: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amounts correlate with revenue levels — low-priced items also have the highest total returns (~₹23.1M), possibly due to higher sales volume.</a:t>
            </a:r>
            <a:endParaRPr dirty="0"/>
          </a:p>
        </p:txBody>
      </p:sp>
      <p:sp>
        <p:nvSpPr>
          <p:cNvPr id="291" name="Google Shape;291;p33"/>
          <p:cNvSpPr txBox="1"/>
          <p:nvPr/>
        </p:nvSpPr>
        <p:spPr>
          <a:xfrm>
            <a:off x="6424063" y="1157546"/>
            <a:ext cx="5063643" cy="427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 Low-Price Range: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 strong inventory and ensure consistent quality to minimize returns in this high-volume segment.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Boost Medium Segment Profitability: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Introduce targeted promotions to convert medium-tier customers into repeat buyers.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Expand Premium Category: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 product visibility, highlight premium features, and bundle offers to drive interest in high-value items.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Return Reasons: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Investigate return patterns across price bands to identify product or service issues, especially in the low-price category.</a:t>
            </a:r>
            <a:endParaRPr dirty="0"/>
          </a:p>
        </p:txBody>
      </p:sp>
      <p:sp>
        <p:nvSpPr>
          <p:cNvPr id="292" name="Google Shape;292;p33"/>
          <p:cNvSpPr txBox="1"/>
          <p:nvPr/>
        </p:nvSpPr>
        <p:spPr>
          <a:xfrm>
            <a:off x="2068349" y="319975"/>
            <a:ext cx="2271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293" name="Google Shape;293;p33"/>
          <p:cNvSpPr txBox="1"/>
          <p:nvPr/>
        </p:nvSpPr>
        <p:spPr>
          <a:xfrm>
            <a:off x="7271550" y="319975"/>
            <a:ext cx="3368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4"/>
          <p:cNvSpPr txBox="1"/>
          <p:nvPr/>
        </p:nvSpPr>
        <p:spPr>
          <a:xfrm>
            <a:off x="1277050" y="826733"/>
            <a:ext cx="9637874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Calculate the average number of items and revenue per basket across different countries.</a:t>
            </a:r>
            <a:endParaRPr dirty="0"/>
          </a:p>
        </p:txBody>
      </p:sp>
      <p:sp>
        <p:nvSpPr>
          <p:cNvPr id="299" name="Google Shape;299;p34"/>
          <p:cNvSpPr txBox="1"/>
          <p:nvPr/>
        </p:nvSpPr>
        <p:spPr>
          <a:xfrm>
            <a:off x="3468626" y="0"/>
            <a:ext cx="5254715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9. Basket Size Insights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00" name="Google Shape;300;p34"/>
          <p:cNvGraphicFramePr/>
          <p:nvPr/>
        </p:nvGraphicFramePr>
        <p:xfrm>
          <a:off x="2812377" y="4690482"/>
          <a:ext cx="6567225" cy="81202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720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Revenue_NoDiscount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SalesVolume_WithDiscount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Revenue_WithDiscount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4288334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588589044.6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1788866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Calibri"/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144155830.46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1" name="Google Shape;301;p34"/>
          <p:cNvSpPr/>
          <p:nvPr/>
        </p:nvSpPr>
        <p:spPr>
          <a:xfrm>
            <a:off x="2704217" y="4196913"/>
            <a:ext cx="6783538" cy="2155732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215" y="1711934"/>
            <a:ext cx="11955543" cy="20672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03" name="Google Shape;303;p34"/>
          <p:cNvGraphicFramePr/>
          <p:nvPr/>
        </p:nvGraphicFramePr>
        <p:xfrm>
          <a:off x="2812372" y="4293887"/>
          <a:ext cx="6567225" cy="1961800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144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3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5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5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Country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Avg_No_of_Items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Avg_Rev_Per_Sale_Basket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Total_Basket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Deutschland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56.93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506737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EspaÃ±a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57.4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387922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France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56.99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438787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Portugal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56.99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392147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United Kingdom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40.07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423831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United States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63.23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1139376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ä¸­å›½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488.87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1048470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4" name="Google Shape;304;p34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5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35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5"/>
          <p:cNvSpPr txBox="1"/>
          <p:nvPr/>
        </p:nvSpPr>
        <p:spPr>
          <a:xfrm>
            <a:off x="672184" y="1157546"/>
            <a:ext cx="5063643" cy="501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Uniform Basket Size: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Across all countries, the average number of items per basket is nearly consistent (~1.45–1.46), suggesting similar purchasing behavior in quantity.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Variation by Country: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España (57.40)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leads slightly in average revenue per basket, while </a:t>
            </a:r>
            <a:r>
              <a:rPr lang="en-US" sz="16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United Kingdom (40.07)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records the lowest, indicating possible differences in pricing or product mix.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Transaction Volume: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Deutschland (506K baskets)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has the highest total baskets, contributing significantly to overall sales volume.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Potential Pricing Gap: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Despite similar basket sizes, the UK’s lower revenue per basket may reflect cheaper product categories or stronger discounting.</a:t>
            </a:r>
            <a:endParaRPr dirty="0"/>
          </a:p>
        </p:txBody>
      </p:sp>
      <p:sp>
        <p:nvSpPr>
          <p:cNvPr id="312" name="Google Shape;312;p35"/>
          <p:cNvSpPr txBox="1"/>
          <p:nvPr/>
        </p:nvSpPr>
        <p:spPr>
          <a:xfrm>
            <a:off x="6424063" y="1157546"/>
            <a:ext cx="5063643" cy="4031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Review UK Pricing Strategy: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Investigate reasons for lower basket revenue and explore upselling or premium product placement to raise per-basket value.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Replicate High-Revenue Models: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España’s approach (product mix or pricing) and apply successful tactics in lower-revenue markets.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Encourage Multi-Item Purchases: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 bundled offers or minimum spend incentives to increase average items per basket.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Continuous Monitoring: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 changes in average basket metrics monthly to identify shifts in purchasing trends across countries.</a:t>
            </a:r>
            <a:endParaRPr dirty="0"/>
          </a:p>
        </p:txBody>
      </p:sp>
      <p:sp>
        <p:nvSpPr>
          <p:cNvPr id="313" name="Google Shape;313;p35"/>
          <p:cNvSpPr txBox="1"/>
          <p:nvPr/>
        </p:nvSpPr>
        <p:spPr>
          <a:xfrm>
            <a:off x="2073450" y="299475"/>
            <a:ext cx="2261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314" name="Google Shape;314;p35"/>
          <p:cNvSpPr txBox="1"/>
          <p:nvPr/>
        </p:nvSpPr>
        <p:spPr>
          <a:xfrm>
            <a:off x="7276650" y="299475"/>
            <a:ext cx="3358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6"/>
          <p:cNvSpPr txBox="1"/>
          <p:nvPr/>
        </p:nvSpPr>
        <p:spPr>
          <a:xfrm>
            <a:off x="1523402" y="697306"/>
            <a:ext cx="9145143" cy="62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month-over-month revenue growth overall and for the top three categories.</a:t>
            </a:r>
            <a:endParaRPr dirty="0"/>
          </a:p>
        </p:txBody>
      </p:sp>
      <p:sp>
        <p:nvSpPr>
          <p:cNvPr id="320" name="Google Shape;320;p36"/>
          <p:cNvSpPr txBox="1"/>
          <p:nvPr/>
        </p:nvSpPr>
        <p:spPr>
          <a:xfrm>
            <a:off x="2779150" y="0"/>
            <a:ext cx="66336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10. Monthly Growth Trends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0148" y="3945915"/>
            <a:ext cx="11431596" cy="12860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3964" y="1392355"/>
            <a:ext cx="11584017" cy="103837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36"/>
          <p:cNvSpPr/>
          <p:nvPr/>
        </p:nvSpPr>
        <p:spPr>
          <a:xfrm>
            <a:off x="2704157" y="2424472"/>
            <a:ext cx="6783600" cy="12861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4" name="Google Shape;324;p36"/>
          <p:cNvGraphicFramePr/>
          <p:nvPr/>
        </p:nvGraphicFramePr>
        <p:xfrm>
          <a:off x="2812345" y="2474789"/>
          <a:ext cx="6567225" cy="118546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62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3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7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Prv_Rev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Overall_MoM_Growth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13901921.78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11344209.79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13901921.78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-18.4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30245575.19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11344209.79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166.62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8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23409291.97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30245575.19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-22.6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5" name="Google Shape;325;p36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6"/>
          <p:cNvSpPr/>
          <p:nvPr/>
        </p:nvSpPr>
        <p:spPr>
          <a:xfrm>
            <a:off x="2704157" y="5115466"/>
            <a:ext cx="6783600" cy="12861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7" name="Google Shape;327;p36"/>
          <p:cNvGraphicFramePr/>
          <p:nvPr/>
        </p:nvGraphicFramePr>
        <p:xfrm>
          <a:off x="2834781" y="5231967"/>
          <a:ext cx="6522350" cy="1104925"/>
        </p:xfrm>
        <a:graphic>
          <a:graphicData uri="http://schemas.openxmlformats.org/drawingml/2006/table">
            <a:tbl>
              <a:tblPr>
                <a:noFill/>
                <a:tableStyleId>{098C2F7D-EAA4-4774-B8E7-03194B14E69F}</a:tableStyleId>
              </a:tblPr>
              <a:tblGrid>
                <a:gridCol w="922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0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04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months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Prv_Rev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Ctg_MoM_Growth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Children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1391900.45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Children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835450.99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1391900.45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-39.98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Children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3628070.37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835450.99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334.26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Children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1694579.2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3628070.37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-53.29</a:t>
                      </a:r>
                      <a:endParaRPr dirty="0"/>
                    </a:p>
                  </a:txBody>
                  <a:tcPr marL="7625" marR="7625" marT="7625" marB="0" anchor="b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7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7"/>
          <p:cNvSpPr txBox="1"/>
          <p:nvPr/>
        </p:nvSpPr>
        <p:spPr>
          <a:xfrm>
            <a:off x="672184" y="1157546"/>
            <a:ext cx="5063643" cy="4524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Overall Volatility: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fluctuated sharply — down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18% in Feb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up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+167% in Mar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then dipped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–23% in Apr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showing strong seasonal or promo-driven impact.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Category Variation: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Highly volatile (+334% in Mar).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Feminine: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More stable with mild growth shifts.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Masculine: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Moderate, steady trend balancing overall sales.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 Peak: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 categories hit peak revenue 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 2023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likely due to promotions or high seasonal demand.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Stabilization After March: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Growth slowed 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April–May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marking a return to normal demand post-campaign.</a:t>
            </a:r>
            <a:endParaRPr dirty="0"/>
          </a:p>
        </p:txBody>
      </p:sp>
      <p:sp>
        <p:nvSpPr>
          <p:cNvPr id="335" name="Google Shape;335;p37"/>
          <p:cNvSpPr txBox="1"/>
          <p:nvPr/>
        </p:nvSpPr>
        <p:spPr>
          <a:xfrm>
            <a:off x="6424063" y="1157546"/>
            <a:ext cx="5063643" cy="501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Replicate March Success: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what drove the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 surge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(promotions, new launches, marketing campaigns) and plan similar initiatives quarterly to sustain growth.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Stabilize Children Category Sales: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Since the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 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shows the highest volatility, implement steady marketing efforts — e.g., monthly mini-promotions or bundles — to reduce sharp drops.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Strengthen Feminine &amp; Masculine Segments: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 on cross-category promotions (e.g., combo deals or gift bundles) to maintain balanced revenue and offset fluctuations in the Children segment.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 Predictive Growth Tracking:</a:t>
            </a:r>
            <a:b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MoM patterns to forecast category demand cycles and optimize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inventory, production, and marketing timing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align with expected peaks.</a:t>
            </a:r>
            <a:endParaRPr dirty="0"/>
          </a:p>
        </p:txBody>
      </p:sp>
      <p:sp>
        <p:nvSpPr>
          <p:cNvPr id="336" name="Google Shape;336;p37"/>
          <p:cNvSpPr txBox="1"/>
          <p:nvPr/>
        </p:nvSpPr>
        <p:spPr>
          <a:xfrm>
            <a:off x="2063249" y="309725"/>
            <a:ext cx="2281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337" name="Google Shape;337;p37"/>
          <p:cNvSpPr txBox="1"/>
          <p:nvPr/>
        </p:nvSpPr>
        <p:spPr>
          <a:xfrm>
            <a:off x="7266450" y="309725"/>
            <a:ext cx="3378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9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9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9"/>
          <p:cNvSpPr txBox="1"/>
          <p:nvPr/>
        </p:nvSpPr>
        <p:spPr>
          <a:xfrm>
            <a:off x="672184" y="1157546"/>
            <a:ext cx="5063643" cy="427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Revenue: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₹732.74M with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Rate 5.59%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stable performance with moderate returns.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Basket Size: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Consistent, indicating steady purchase behavior.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Category Contribution: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Feminine (341M) and Masculine (327M) dominate; Children (65M) trails far behind.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 Contribution: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Credit Cards contribute ~80% of revenue, showing digital payment dominance.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Trend: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Revenue peaks 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December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suggesting strong seasonality or festive influence.</a:t>
            </a:r>
            <a:endParaRPr dirty="0"/>
          </a:p>
        </p:txBody>
      </p:sp>
      <p:sp>
        <p:nvSpPr>
          <p:cNvPr id="350" name="Google Shape;350;p39"/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Launch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mid-year sales campaigns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smoothen monthly dips.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credit card rewards or partnerships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retain high-value customers.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Promote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 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via bundles or discount drives.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rate KPI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continuously monitor product satisfaction.</a:t>
            </a:r>
            <a:endParaRPr dirty="0"/>
          </a:p>
        </p:txBody>
      </p:sp>
      <p:sp>
        <p:nvSpPr>
          <p:cNvPr id="351" name="Google Shape;351;p39"/>
          <p:cNvSpPr txBox="1"/>
          <p:nvPr/>
        </p:nvSpPr>
        <p:spPr>
          <a:xfrm>
            <a:off x="2078550" y="309725"/>
            <a:ext cx="225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352" name="Google Shape;352;p39"/>
          <p:cNvSpPr txBox="1"/>
          <p:nvPr/>
        </p:nvSpPr>
        <p:spPr>
          <a:xfrm>
            <a:off x="7245900" y="309725"/>
            <a:ext cx="342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1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41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1"/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concentration highest in European countries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with clear hotspots in a few cities.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spend per region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shows major gaps — some cities spend nearly 3× more.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Regional growth trends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indicate periodic spikes around late-year months.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 cities (~100M each)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dominate the total sales volume, showing geographical imbalance.</a:t>
            </a:r>
            <a:endParaRPr dirty="0"/>
          </a:p>
        </p:txBody>
      </p:sp>
      <p:sp>
        <p:nvSpPr>
          <p:cNvPr id="365" name="Google Shape;365;p41"/>
          <p:cNvSpPr txBox="1"/>
          <p:nvPr/>
        </p:nvSpPr>
        <p:spPr>
          <a:xfrm>
            <a:off x="6424063" y="1157546"/>
            <a:ext cx="5063643" cy="206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 marketing on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top-performing cities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while nurturing smaller regions.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and demand differences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between high- and low-spend regions.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regional filters to monitor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store-level contributions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monthly.</a:t>
            </a:r>
            <a:endParaRPr dirty="0"/>
          </a:p>
        </p:txBody>
      </p:sp>
      <p:sp>
        <p:nvSpPr>
          <p:cNvPr id="366" name="Google Shape;366;p41"/>
          <p:cNvSpPr txBox="1"/>
          <p:nvPr/>
        </p:nvSpPr>
        <p:spPr>
          <a:xfrm>
            <a:off x="2078550" y="309725"/>
            <a:ext cx="225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367" name="Google Shape;367;p41"/>
          <p:cNvSpPr txBox="1"/>
          <p:nvPr/>
        </p:nvSpPr>
        <p:spPr>
          <a:xfrm>
            <a:off x="7195600" y="267975"/>
            <a:ext cx="342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3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3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3"/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Feminine (46%)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leading category by far, followed by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Masculine (45%)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confirming balanced gender-based performance.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 (9%)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remains underdeveloped.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 subcategories: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Coats &amp; Blazers (₹100M), Pants &amp; Jeans (₹94M).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Category trends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show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consistent year-end peaks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all major segments.</a:t>
            </a:r>
            <a:endParaRPr dirty="0"/>
          </a:p>
        </p:txBody>
      </p:sp>
      <p:sp>
        <p:nvSpPr>
          <p:cNvPr id="380" name="Google Shape;380;p43"/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Continue product innovation and marketing 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Feminine and Masculine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categories.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Increase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 product visibility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via seasonal campaigns or bundles.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subcategory profitability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guide future assortment planning.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rate under 6%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through tighter quality checks.</a:t>
            </a:r>
            <a:endParaRPr dirty="0"/>
          </a:p>
        </p:txBody>
      </p:sp>
      <p:sp>
        <p:nvSpPr>
          <p:cNvPr id="381" name="Google Shape;381;p43"/>
          <p:cNvSpPr txBox="1"/>
          <p:nvPr/>
        </p:nvSpPr>
        <p:spPr>
          <a:xfrm>
            <a:off x="2058149" y="309725"/>
            <a:ext cx="2291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382" name="Google Shape;382;p43"/>
          <p:cNvSpPr txBox="1"/>
          <p:nvPr/>
        </p:nvSpPr>
        <p:spPr>
          <a:xfrm>
            <a:off x="7220237" y="309725"/>
            <a:ext cx="3471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5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45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5"/>
          <p:cNvSpPr txBox="1"/>
          <p:nvPr/>
        </p:nvSpPr>
        <p:spPr>
          <a:xfrm>
            <a:off x="672184" y="1157546"/>
            <a:ext cx="5063643" cy="353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Promotions were irregular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active only in select months, showing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non-continuous campaigns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across 2023–2025.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 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gained the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highest sales under promotion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while Feminine and Masculine saw limited lift.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Only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29% of total transactions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occurred during discounted periods, confirming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targeted, short-term offers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Overall sales lift (−77.19%)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indicates promotions didn’t boost total revenue significantly.</a:t>
            </a:r>
            <a:endParaRPr dirty="0"/>
          </a:p>
        </p:txBody>
      </p:sp>
      <p:sp>
        <p:nvSpPr>
          <p:cNvPr id="395" name="Google Shape;395;p45"/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Focus promotions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high-response categories like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Children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sustain momentum.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Increase promo frequency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plan consistent quarterly campaigns instead of sporadic events.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 timing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aligning promos with peak demand months (e.g., Dec–Mar).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Evaluate promo ROI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category to refine discount depth and duration.</a:t>
            </a:r>
            <a:endParaRPr dirty="0"/>
          </a:p>
        </p:txBody>
      </p:sp>
      <p:sp>
        <p:nvSpPr>
          <p:cNvPr id="396" name="Google Shape;396;p45"/>
          <p:cNvSpPr txBox="1"/>
          <p:nvPr/>
        </p:nvSpPr>
        <p:spPr>
          <a:xfrm>
            <a:off x="2078550" y="309725"/>
            <a:ext cx="225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397" name="Google Shape;397;p45"/>
          <p:cNvSpPr txBox="1"/>
          <p:nvPr/>
        </p:nvSpPr>
        <p:spPr>
          <a:xfrm>
            <a:off x="7230437" y="309725"/>
            <a:ext cx="345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7"/>
          <p:cNvSpPr/>
          <p:nvPr/>
        </p:nvSpPr>
        <p:spPr>
          <a:xfrm>
            <a:off x="6408013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47"/>
          <p:cNvSpPr/>
          <p:nvPr/>
        </p:nvSpPr>
        <p:spPr>
          <a:xfrm>
            <a:off x="656132" y="1029789"/>
            <a:ext cx="5095749" cy="5518494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47"/>
          <p:cNvSpPr txBox="1"/>
          <p:nvPr/>
        </p:nvSpPr>
        <p:spPr>
          <a:xfrm>
            <a:off x="672184" y="1157546"/>
            <a:ext cx="5063643" cy="3293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Customers: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74.89% — strong loyalty base.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Customers: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25.11%, reflecting steady acquisition but lower than retention.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Order Value: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₹168.94, indicating consistent spending across segments.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Basket Size: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Stable across months, suggesting predictable purchasing patterns.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Trendlines: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Repeat customers show upward movement, confirming brand loyalty.</a:t>
            </a:r>
            <a:endParaRPr dirty="0"/>
          </a:p>
        </p:txBody>
      </p:sp>
      <p:sp>
        <p:nvSpPr>
          <p:cNvPr id="410" name="Google Shape;410;p47"/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loyalty incentives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(cashbacks, points) to reward repeat customers.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Encourage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new-to-repeat conversion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via onboarding offers or feedback-based engagement.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AOV by gender or location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more granular insights.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Launch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cross-sell recommendations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slightly raise average basket size.</a:t>
            </a:r>
            <a:endParaRPr dirty="0"/>
          </a:p>
        </p:txBody>
      </p:sp>
      <p:sp>
        <p:nvSpPr>
          <p:cNvPr id="411" name="Google Shape;411;p47"/>
          <p:cNvSpPr txBox="1"/>
          <p:nvPr/>
        </p:nvSpPr>
        <p:spPr>
          <a:xfrm>
            <a:off x="2094000" y="309725"/>
            <a:ext cx="222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dirty="0"/>
          </a:p>
        </p:txBody>
      </p:sp>
      <p:sp>
        <p:nvSpPr>
          <p:cNvPr id="412" name="Google Shape;412;p47"/>
          <p:cNvSpPr txBox="1"/>
          <p:nvPr/>
        </p:nvSpPr>
        <p:spPr>
          <a:xfrm>
            <a:off x="7250987" y="309725"/>
            <a:ext cx="34098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8"/>
          <p:cNvSpPr txBox="1"/>
          <p:nvPr/>
        </p:nvSpPr>
        <p:spPr>
          <a:xfrm>
            <a:off x="2751738" y="0"/>
            <a:ext cx="668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Machine Learning Overview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8"/>
          <p:cNvSpPr txBox="1"/>
          <p:nvPr/>
        </p:nvSpPr>
        <p:spPr>
          <a:xfrm>
            <a:off x="1511706" y="2045861"/>
            <a:ext cx="9168581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Machine Learning Component – Predictive Analytics</a:t>
            </a: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48"/>
          <p:cNvSpPr txBox="1"/>
          <p:nvPr/>
        </p:nvSpPr>
        <p:spPr>
          <a:xfrm>
            <a:off x="1511707" y="3429000"/>
            <a:ext cx="9168580" cy="163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the final stage of the project, advanced machine learning models were developed to solve two major operational challenges for Global Fashion Retail: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predicting return-risk transactions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forecasting monthly demand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These models help the business proactively reduce losses from returns, optimize inventory planning, and ensure better customer experience.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8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/>
          <p:nvPr/>
        </p:nvSpPr>
        <p:spPr>
          <a:xfrm>
            <a:off x="2998837" y="5090"/>
            <a:ext cx="6194323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Prediction Model </a:t>
            </a:r>
            <a:endParaRPr dirty="0"/>
          </a:p>
        </p:txBody>
      </p:sp>
      <p:sp>
        <p:nvSpPr>
          <p:cNvPr id="426" name="Google Shape;426;p49"/>
          <p:cNvSpPr txBox="1"/>
          <p:nvPr/>
        </p:nvSpPr>
        <p:spPr>
          <a:xfrm>
            <a:off x="1512937" y="1046513"/>
            <a:ext cx="9166121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Classification (Logistic Regression &amp; Random Forest)</a:t>
            </a: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9"/>
          <p:cNvSpPr txBox="1"/>
          <p:nvPr/>
        </p:nvSpPr>
        <p:spPr>
          <a:xfrm>
            <a:off x="412953" y="1631288"/>
            <a:ext cx="11366090" cy="501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Goal: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Predict high-risk return transactions to support quality checks and proactive customer support.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Approach: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 pipeline using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Scikit-learn + SMOTE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(inside Pipeline → no leakage)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 engineered features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across customer, product, store, transaction &amp; time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Baseline: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Logistic Regression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 Model: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Random Forest Classifier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Threshold tuning: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Youden’s J statistic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Evaluation Metrics: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correctness of predicted returns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ability to capture actual returns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F1-Score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balance for imbalanced classes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ROC-AUC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overall model performance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 → </a:t>
            </a:r>
            <a:r>
              <a:rPr lang="en-US" sz="1600" u="sng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https://github.com/parvej1-7alam/WsCube-DAMP-ML-Capstone/blob/main/Notebooks/ML_Capstone_Part1.ipynb</a:t>
            </a:r>
            <a:endParaRPr sz="16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9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0"/>
          <p:cNvSpPr txBox="1"/>
          <p:nvPr/>
        </p:nvSpPr>
        <p:spPr>
          <a:xfrm>
            <a:off x="447367" y="925598"/>
            <a:ext cx="11676185" cy="5755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Predict if a transaction will be returned.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Metrics: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Precision: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0.30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0.26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→ Many predicted returns are false positives.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Recall: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0.90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~1.00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→ Almost all actual returns are detected.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F1 Score: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0.45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0.41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→ Balance between precision &amp; recall.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0.88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0.85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→ Misleading due to class imbalance.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ROC–AUC: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0.952 → Excellent class separation for both models.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Interpretation: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are tuned to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maximize detection of returns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Regression: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More balanced, fewer false positives.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Random Forest: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Extremely high recall, slightly better ROC–AUC, more false positives.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Prioritize recall → Random Forest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Prioritize balance/interpretability → Logistic Regression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Summary: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models effectively detect returns. Choice depends on whether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catching all returns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reducing false positives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more important.</a:t>
            </a:r>
            <a:endParaRPr dirty="0"/>
          </a:p>
        </p:txBody>
      </p:sp>
      <p:sp>
        <p:nvSpPr>
          <p:cNvPr id="434" name="Google Shape;434;p50"/>
          <p:cNvSpPr txBox="1"/>
          <p:nvPr/>
        </p:nvSpPr>
        <p:spPr>
          <a:xfrm>
            <a:off x="341713" y="0"/>
            <a:ext cx="11887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Prediction Model – Evaluation &amp; Summary</a:t>
            </a:r>
            <a:endParaRPr sz="4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50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51"/>
          <p:cNvSpPr txBox="1"/>
          <p:nvPr/>
        </p:nvSpPr>
        <p:spPr>
          <a:xfrm>
            <a:off x="2506800" y="0"/>
            <a:ext cx="71784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Demand Forecasting</a:t>
            </a:r>
            <a:endParaRPr dirty="0"/>
          </a:p>
        </p:txBody>
      </p:sp>
      <p:sp>
        <p:nvSpPr>
          <p:cNvPr id="441" name="Google Shape;441;p51"/>
          <p:cNvSpPr txBox="1"/>
          <p:nvPr/>
        </p:nvSpPr>
        <p:spPr>
          <a:xfrm>
            <a:off x="2063542" y="787883"/>
            <a:ext cx="806491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Boosting Regressor (Time Series ML)</a:t>
            </a: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51"/>
          <p:cNvSpPr txBox="1"/>
          <p:nvPr/>
        </p:nvSpPr>
        <p:spPr>
          <a:xfrm>
            <a:off x="309714" y="1269821"/>
            <a:ext cx="11572568" cy="55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Goal: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Forecast monthly units sold for each Category × Country to improve inventory planning and reduce stockouts/overstocking.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Approach: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Used: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Boosting Regressor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demand aggregated by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Country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 Engineering: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800100" marR="0" lvl="1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arenR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Lag features: Lag_1, Lag_2, Lag_3, Lag_12</a:t>
            </a:r>
            <a:endParaRPr dirty="0"/>
          </a:p>
          <a:p>
            <a:pPr marL="800100" marR="0" lvl="1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arenR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 features: Year, Month</a:t>
            </a:r>
            <a:endParaRPr dirty="0"/>
          </a:p>
          <a:p>
            <a:pPr marL="800100" marR="0" lvl="1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arenR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Seasonality: Month_Sin, Month_Cos</a:t>
            </a:r>
            <a:endParaRPr dirty="0"/>
          </a:p>
          <a:p>
            <a:pPr marL="800100" marR="0" lvl="1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arenR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Demand &amp; pricing behavior: Total_Sales, Avg_Unit_Price, Avg_Effective_Price, Avg_Discount, Total_Transactions, Total_Discounted_Transactions</a:t>
            </a:r>
            <a:endParaRPr dirty="0"/>
          </a:p>
          <a:p>
            <a:pPr marL="800100" marR="0" lvl="1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arenR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Category &amp; region: Category, Country</a:t>
            </a:r>
            <a:endParaRPr dirty="0"/>
          </a:p>
          <a:p>
            <a:pPr marL="800100" marR="0" lvl="1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Evaluation Metrics: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MAPE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Percent forecast accuracy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MSE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Error magnitude across months</a:t>
            </a:r>
            <a:endParaRPr dirty="0"/>
          </a:p>
          <a:p>
            <a:pPr marL="342900" marR="0" lvl="0" indent="-241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 → </a:t>
            </a:r>
            <a:r>
              <a:rPr lang="en-US" sz="1600" u="sng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https://github.com/parvej1-7alam/WsCube-DAMP-ML-Capstone/blob/main/Notebooks/ML_Capstone_Part2.ipynb</a:t>
            </a:r>
            <a:endParaRPr sz="16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51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52"/>
          <p:cNvSpPr txBox="1"/>
          <p:nvPr/>
        </p:nvSpPr>
        <p:spPr>
          <a:xfrm>
            <a:off x="-45869" y="0"/>
            <a:ext cx="12283737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Demand Forecast – Evaluation &amp; Summary</a:t>
            </a:r>
            <a:endParaRPr sz="4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52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 txBox="1"/>
          <p:nvPr/>
        </p:nvSpPr>
        <p:spPr>
          <a:xfrm>
            <a:off x="183825" y="787875"/>
            <a:ext cx="11910000" cy="6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Goal: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Predict monthly units sold for each Category × Country segment.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Metrics: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RMSE: 181.73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Average prediction error is about ±182 units — low relative to overall demand scale.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MAPE: 1.12%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Excellent accuracy; predictions deviate from actual values by only ~1%.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Interpretation: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captures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trend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seasonality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non-linear patterns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effectively.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Lag features (Lag_1, Lag_2, Lag_3, Lag_12) strongly drive predictive power.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Cyclical features (Month_Sin, Month_Cos) help the model recognize smooth month-to-month transitions.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&amp; sales features improve model sensitivity to promotion-driven demand changes.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Extremely low MAPE indicates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reliability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across all segments.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Recommendation: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Boosting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remains the best model due to strong performance on: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Non-linear seasonal patterns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Cross-category variability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Price/demand interactions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be confidently used for inventory planning and demand-driven procurement.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Summary: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Gradient Boosting Regressor delivers 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highly accurate monthly forecasts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minimal percentage error.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ability to learn trends, seasonal behavior, and lag relationships makes it a reliable tool for operational planning, stocking decisions, and supply chain optimization.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3"/>
          <p:cNvSpPr/>
          <p:nvPr/>
        </p:nvSpPr>
        <p:spPr>
          <a:xfrm>
            <a:off x="98323" y="787883"/>
            <a:ext cx="11995354" cy="5982528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3"/>
          <p:cNvSpPr txBox="1"/>
          <p:nvPr/>
        </p:nvSpPr>
        <p:spPr>
          <a:xfrm>
            <a:off x="735750" y="0"/>
            <a:ext cx="10720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 Strategic Recommendations (Overall)</a:t>
            </a:r>
            <a:endParaRPr dirty="0"/>
          </a:p>
        </p:txBody>
      </p:sp>
      <p:sp>
        <p:nvSpPr>
          <p:cNvPr id="457" name="Google Shape;457;p53"/>
          <p:cNvSpPr/>
          <p:nvPr/>
        </p:nvSpPr>
        <p:spPr>
          <a:xfrm>
            <a:off x="1236406" y="920621"/>
            <a:ext cx="7325032" cy="5016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 inventory planning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using ML demand forecasts → reduce stockouts, lower excess stock, and improve availability of top categories.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 returns proactively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using the Return Prediction model → trigger quality checks, flag risky products, and pre-alert customer support teams.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Strengthen regional strategies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based on SQL + BI insights → invest more in high-performing cities, and support growing markets with targeted promotions.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Refine promotion planning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analyzing discount effectiveness → focus discounts on categories with strong uplift (e.g., Children).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Enhance customer retention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leveraging loyalty insights → reward repeat customers, introduce segment-based pricing/communication.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 product assortment &amp; pricing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using category-level revenue, return trends, and forecasting outputs.</a:t>
            </a:r>
            <a:endParaRPr dirty="0"/>
          </a:p>
          <a:p>
            <a:pPr marL="342900" marR="0" lvl="0" indent="-241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AutoNum type="arabicPeriod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dashboards for continuous monitoring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→ enable leadership to track KPIs, dive into store-level issues, and make fast data-driven decisions.</a:t>
            </a:r>
            <a:endParaRPr dirty="0"/>
          </a:p>
        </p:txBody>
      </p:sp>
      <p:sp>
        <p:nvSpPr>
          <p:cNvPr id="458" name="Google Shape;458;p53"/>
          <p:cNvSpPr txBox="1"/>
          <p:nvPr/>
        </p:nvSpPr>
        <p:spPr>
          <a:xfrm>
            <a:off x="452283" y="6061507"/>
            <a:ext cx="1128743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integrated analytics solution empowers Global Fashion Retail to grow revenue, reduce returns, optimize inventory, and deliver a superior customer experience.</a:t>
            </a: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4"/>
          <p:cNvSpPr txBox="1"/>
          <p:nvPr/>
        </p:nvSpPr>
        <p:spPr>
          <a:xfrm>
            <a:off x="4200219" y="359023"/>
            <a:ext cx="3790330" cy="809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6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You!</a:t>
            </a:r>
            <a:endParaRPr sz="6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464" name="Google Shape;464;p54"/>
          <p:cNvGrpSpPr/>
          <p:nvPr/>
        </p:nvGrpSpPr>
        <p:grpSpPr>
          <a:xfrm>
            <a:off x="3130344" y="3885617"/>
            <a:ext cx="5930079" cy="2071540"/>
            <a:chOff x="3106994" y="3954442"/>
            <a:chExt cx="5930079" cy="2071540"/>
          </a:xfrm>
        </p:grpSpPr>
        <p:grpSp>
          <p:nvGrpSpPr>
            <p:cNvPr id="465" name="Google Shape;465;p54"/>
            <p:cNvGrpSpPr/>
            <p:nvPr/>
          </p:nvGrpSpPr>
          <p:grpSpPr>
            <a:xfrm>
              <a:off x="3138903" y="4561544"/>
              <a:ext cx="5898170" cy="1464438"/>
              <a:chOff x="2862987" y="3903286"/>
              <a:chExt cx="5898170" cy="1464438"/>
            </a:xfrm>
          </p:grpSpPr>
          <p:pic>
            <p:nvPicPr>
              <p:cNvPr id="466" name="Google Shape;466;p54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2882651" y="4482906"/>
                <a:ext cx="391490" cy="39149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67" name="Google Shape;467;p5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862987" y="3903286"/>
                <a:ext cx="391490" cy="39149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8" name="Google Shape;468;p54"/>
              <p:cNvSpPr txBox="1"/>
              <p:nvPr/>
            </p:nvSpPr>
            <p:spPr>
              <a:xfrm>
                <a:off x="3254477" y="4495232"/>
                <a:ext cx="550668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 u="sng" dirty="0">
                    <a:solidFill>
                      <a:schemeClr val="accen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  <a:hlinkClick r:id="rId5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 https://www.linkedin.com/in/parvej-alam17/</a:t>
                </a:r>
                <a:endParaRPr sz="1600" dirty="0">
                  <a:solidFill>
                    <a:schemeClr val="accen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469" name="Google Shape;469;p54"/>
              <p:cNvSpPr txBox="1"/>
              <p:nvPr/>
            </p:nvSpPr>
            <p:spPr>
              <a:xfrm>
                <a:off x="3283359" y="3925444"/>
                <a:ext cx="2969342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 u="sng" dirty="0">
                    <a:solidFill>
                      <a:schemeClr val="accen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  <a:hlinkClick r:id="rId6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parvejalam17knp@gmail.com</a:t>
                </a:r>
                <a:endParaRPr sz="1600" dirty="0">
                  <a:solidFill>
                    <a:schemeClr val="accen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470" name="Google Shape;470;p54"/>
              <p:cNvSpPr txBox="1"/>
              <p:nvPr/>
            </p:nvSpPr>
            <p:spPr>
              <a:xfrm>
                <a:off x="3283359" y="5029170"/>
                <a:ext cx="338598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 u="sng" dirty="0">
                    <a:solidFill>
                      <a:schemeClr val="accen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  <a:hlinkClick r:id="rId7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https://github.com/parvej1-7alam</a:t>
                </a:r>
                <a:endParaRPr sz="1600" dirty="0">
                  <a:solidFill>
                    <a:schemeClr val="accen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  <p:sp>
          <p:nvSpPr>
            <p:cNvPr id="471" name="Google Shape;471;p54"/>
            <p:cNvSpPr txBox="1"/>
            <p:nvPr/>
          </p:nvSpPr>
          <p:spPr>
            <a:xfrm>
              <a:off x="3106994" y="3954442"/>
              <a:ext cx="575187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Your feedback is valuable -Feel free to connect me here:</a:t>
              </a:r>
              <a:endParaRPr dirty="0"/>
            </a:p>
          </p:txBody>
        </p:sp>
      </p:grpSp>
      <p:pic>
        <p:nvPicPr>
          <p:cNvPr id="472" name="Google Shape;472;p5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181602" y="5594372"/>
            <a:ext cx="332027" cy="332027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54"/>
          <p:cNvSpPr/>
          <p:nvPr/>
        </p:nvSpPr>
        <p:spPr>
          <a:xfrm>
            <a:off x="98323" y="68826"/>
            <a:ext cx="11995354" cy="6701585"/>
          </a:xfrm>
          <a:custGeom>
            <a:avLst/>
            <a:gdLst/>
            <a:ahLst/>
            <a:cxnLst/>
            <a:rect l="l" t="t" r="r" b="b"/>
            <a:pathLst>
              <a:path w="16854971" h="16422712" extrusionOk="0">
                <a:moveTo>
                  <a:pt x="16730511" y="59690"/>
                </a:moveTo>
                <a:cubicBezTo>
                  <a:pt x="16766071" y="59690"/>
                  <a:pt x="16795280" y="88900"/>
                  <a:pt x="16795280" y="124460"/>
                </a:cubicBezTo>
                <a:lnTo>
                  <a:pt x="16795280" y="16298252"/>
                </a:lnTo>
                <a:cubicBezTo>
                  <a:pt x="16795280" y="16333812"/>
                  <a:pt x="16766071" y="16363021"/>
                  <a:pt x="16730511" y="16363021"/>
                </a:cubicBezTo>
                <a:lnTo>
                  <a:pt x="124460" y="16363021"/>
                </a:lnTo>
                <a:cubicBezTo>
                  <a:pt x="88900" y="16363021"/>
                  <a:pt x="59690" y="16333812"/>
                  <a:pt x="59690" y="16298252"/>
                </a:cubicBezTo>
                <a:lnTo>
                  <a:pt x="59690" y="124460"/>
                </a:lnTo>
                <a:cubicBezTo>
                  <a:pt x="59690" y="88900"/>
                  <a:pt x="88900" y="59690"/>
                  <a:pt x="124460" y="59690"/>
                </a:cubicBezTo>
                <a:lnTo>
                  <a:pt x="16730511" y="59690"/>
                </a:lnTo>
                <a:moveTo>
                  <a:pt x="16730511" y="0"/>
                </a:moveTo>
                <a:lnTo>
                  <a:pt x="124460" y="0"/>
                </a:lnTo>
                <a:cubicBezTo>
                  <a:pt x="55880" y="0"/>
                  <a:pt x="0" y="55880"/>
                  <a:pt x="0" y="124460"/>
                </a:cubicBezTo>
                <a:lnTo>
                  <a:pt x="0" y="16298252"/>
                </a:lnTo>
                <a:cubicBezTo>
                  <a:pt x="0" y="16366832"/>
                  <a:pt x="55880" y="16422712"/>
                  <a:pt x="124460" y="16422712"/>
                </a:cubicBezTo>
                <a:lnTo>
                  <a:pt x="16730511" y="16422712"/>
                </a:lnTo>
                <a:cubicBezTo>
                  <a:pt x="16799091" y="16422712"/>
                  <a:pt x="16854971" y="16366832"/>
                  <a:pt x="16854971" y="16298252"/>
                </a:cubicBezTo>
                <a:lnTo>
                  <a:pt x="16854971" y="124460"/>
                </a:lnTo>
                <a:cubicBezTo>
                  <a:pt x="16854971" y="55880"/>
                  <a:pt x="16799091" y="0"/>
                  <a:pt x="16730511" y="0"/>
                </a:cubicBezTo>
                <a:close/>
              </a:path>
            </a:pathLst>
          </a:cu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54"/>
          <p:cNvSpPr/>
          <p:nvPr/>
        </p:nvSpPr>
        <p:spPr>
          <a:xfrm>
            <a:off x="4975939" y="1236546"/>
            <a:ext cx="2238889" cy="2123041"/>
          </a:xfrm>
          <a:prstGeom prst="ellipse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zzzz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5" name="Google Shape;475;p54"/>
          <p:cNvPicPr preferRelativeResize="0"/>
          <p:nvPr/>
        </p:nvPicPr>
        <p:blipFill rotWithShape="1">
          <a:blip r:embed="rId9">
            <a:alphaModFix/>
          </a:blip>
          <a:srcRect l="9723" r="9723"/>
          <a:stretch/>
        </p:blipFill>
        <p:spPr>
          <a:xfrm>
            <a:off x="5023402" y="1300768"/>
            <a:ext cx="2143962" cy="1994596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4358</Words>
  <Application>Microsoft Office PowerPoint</Application>
  <PresentationFormat>Widescreen</PresentationFormat>
  <Paragraphs>707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Noto Sans Symbols</vt:lpstr>
      <vt:lpstr>Times New Roman</vt:lpstr>
      <vt:lpstr>Office Theme</vt:lpstr>
      <vt:lpstr>Global Fashion Retail Analytics Capstone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Faiyyaz Alam</cp:lastModifiedBy>
  <cp:revision>1</cp:revision>
  <dcterms:modified xsi:type="dcterms:W3CDTF">2025-11-29T07:49:46Z</dcterms:modified>
</cp:coreProperties>
</file>