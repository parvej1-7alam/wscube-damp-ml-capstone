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7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64" r:id="rId28"/>
    <p:sldId id="282" r:id="rId29"/>
    <p:sldId id="288" r:id="rId30"/>
    <p:sldId id="283" r:id="rId31"/>
    <p:sldId id="289" r:id="rId32"/>
    <p:sldId id="284" r:id="rId33"/>
    <p:sldId id="290" r:id="rId34"/>
    <p:sldId id="285" r:id="rId35"/>
    <p:sldId id="291" r:id="rId36"/>
    <p:sldId id="292" r:id="rId37"/>
    <p:sldId id="294" r:id="rId38"/>
    <p:sldId id="296" r:id="rId39"/>
    <p:sldId id="295" r:id="rId40"/>
    <p:sldId id="297" r:id="rId41"/>
    <p:sldId id="298" r:id="rId42"/>
    <p:sldId id="29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CCBBC-D983-D8D7-2247-5C5A8D779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4CD38-7501-6D92-E10F-EA11AB55B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E4DD7-F7A0-CFB3-19AB-4932FC1D4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2CAE6-85D9-08D2-4847-82F5785E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85B35-D1EF-9659-A2B0-12D0054A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89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520E8-3BF0-A9CA-C0FA-FFE3A8B99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73F67-6E0F-4F85-718A-71CF4B39E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2F0DC-90F2-4385-9262-E430F512C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3AF58-C9DD-B358-7CF6-9EECC093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35CD8-C473-A108-302F-00861F6F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96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B3144-136C-5BFD-7205-18B9548FB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8E6D6-2A7F-1DB6-7439-6B09B8ABF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56F72-F4EE-64E5-67E1-8FC19C9C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7C4D3-F773-7CCE-19CF-6E5C056F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5F45-64C0-4BEF-3A0B-9293219A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51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F196-41CF-43AF-60CF-3E46152B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CD-85E0-C776-1255-1A55BFE0F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6EA3-CCE9-CC3D-A852-DDEA5E364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C721B-154A-A815-164F-7146CC55A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2D7CF-FACE-3B90-7981-5DAAD643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2D802-334C-9DEB-B326-B4909A81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309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B5AED-2BA1-5A71-AE3F-77714833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0952C-E6F5-BB36-2F9F-730B2A5C0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2758F-666E-814F-BF1D-596D83324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C61EC5-0594-83F3-AD51-55937AA2E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83F1E1-1FA6-459D-221A-C115F3ED6D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9AC25-0F09-852F-AF5A-91B8458D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0F24D2-E266-6D1E-7985-7C7F82777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20EA14-0190-95B7-E9CF-AB0C171A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06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AABC-E662-0B72-C605-2CFA4019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EDA94-1BE0-8A6C-FCED-63B0854A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F151C-6434-A0C5-1FBE-ABD2882AD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6EE21-A1F5-F6DE-5AC1-E77A4696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3812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D73753-A569-3141-DDCA-38FCED74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F5F17-88EE-1C97-B14F-454E0FA16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F8C64-9E52-F491-E3CC-28668266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38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2E421-1C44-0C64-816E-754AADA3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5B24C-31B4-554A-6228-2EFD9911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25FC2-9529-017D-358A-6B11F62B9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93AD4-9DA0-4619-5973-4964B3522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CF55A-A824-6378-D863-E5EB2CBA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0FE40-F1B1-625E-4AEB-EE7AF8373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60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A6E3-DF68-2415-FD11-D7D7B6E55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18C741-1469-ED10-971E-93323DE76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F9BF5-3660-785F-D035-6A9A24766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1F6CF-EC69-AD40-956E-6B93FF02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F861F-91F0-9FE0-39D6-CD15C3D7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08D47-8DB6-7443-647D-1BF16EB9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71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0BB7D-D5BA-D2D0-9915-71E7AB06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0834D-1F6A-8887-8C57-A989D77FE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54020-5F91-AD81-FD9A-9DB924F4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5C297-C738-3DBE-BAEE-8AB7ED3C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852CC-3B13-2D1A-98FC-BFCF6E34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74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D773EE-F5B9-C041-2D6C-402968544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DD89E-4297-2777-B40F-55F906FC5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66933-AA56-F26C-D0FD-35AD9A55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786F6-685C-3530-7EED-C2C09C25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A4FC0-72A4-6AC9-7986-F12EC6EF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1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14661-75BB-BA55-B9FF-344F074C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DE433-42CF-BA8E-87E3-C853CD415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52427-466B-2A8E-29DF-72D7C196C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07B16-FA5E-453B-977D-B41EB3D549DC}" type="datetimeFigureOut">
              <a:rPr lang="en-IN" smtClean="0"/>
              <a:t>29-11-2025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552A-33CB-1792-3878-2EF223BBDF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00601-222D-4E89-F989-67745E964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4DF21-70FB-4B5E-99E1-19C1B4341B8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244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evgN42dtPleHtd545rJsRWj6_1nQNsXH/view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rvej1-7alam/WsCube-DAMP-ML-Capstone/blob/main/Notebooks/ML_Capstone_Part1.ipynb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arvej1-7alam/WsCube-DAMP-ML-Capstone/blob/main/Notebooks/ML_Capstone_Part2.ipynb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parvej1-7alam" TargetMode="External"/><Relationship Id="rId5" Type="http://schemas.openxmlformats.org/officeDocument/2006/relationships/hyperlink" Target="mailto:parvejalam17knp@gmail.com" TargetMode="External"/><Relationship Id="rId4" Type="http://schemas.openxmlformats.org/officeDocument/2006/relationships/hyperlink" Target="https://www.linkedin.com/in/parvej-alam1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85;p37">
            <a:extLst>
              <a:ext uri="{FF2B5EF4-FFF2-40B4-BE49-F238E27FC236}">
                <a16:creationId xmlns:a16="http://schemas.microsoft.com/office/drawing/2014/main" id="{1D6FA226-3BD7-F43B-3EDD-18958C7A867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574567" y="1326645"/>
            <a:ext cx="5673213" cy="113582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r>
              <a:rPr lang="en-US" sz="3200" b="1" dirty="0"/>
              <a:t>Global Fashion Retail </a:t>
            </a:r>
            <a:r>
              <a:rPr lang="en-IN" sz="3200" b="1" dirty="0"/>
              <a:t>Analytics Capstone Project</a:t>
            </a:r>
            <a:endParaRPr sz="3200" b="1" dirty="0"/>
          </a:p>
        </p:txBody>
      </p:sp>
      <p:sp>
        <p:nvSpPr>
          <p:cNvPr id="16" name="Google Shape;286;p37">
            <a:extLst>
              <a:ext uri="{FF2B5EF4-FFF2-40B4-BE49-F238E27FC236}">
                <a16:creationId xmlns:a16="http://schemas.microsoft.com/office/drawing/2014/main" id="{1433A81E-55B3-ECE2-9041-493ADC7BA51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80400" y="5325294"/>
            <a:ext cx="2286339" cy="77202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" sz="2400" b="1" dirty="0">
                <a:latin typeface="+mn-lt"/>
              </a:rPr>
              <a:t>By</a:t>
            </a:r>
            <a:r>
              <a:rPr lang="en" sz="2400" dirty="0">
                <a:latin typeface="+mn-lt"/>
              </a:rPr>
              <a:t>- Parvej Alam</a:t>
            </a:r>
            <a:endParaRPr sz="2400" dirty="0">
              <a:latin typeface="+mn-lt"/>
            </a:endParaRPr>
          </a:p>
        </p:txBody>
      </p:sp>
      <p:grpSp>
        <p:nvGrpSpPr>
          <p:cNvPr id="17" name="Google Shape;287;p37">
            <a:extLst>
              <a:ext uri="{FF2B5EF4-FFF2-40B4-BE49-F238E27FC236}">
                <a16:creationId xmlns:a16="http://schemas.microsoft.com/office/drawing/2014/main" id="{02A830C6-D6E9-20E9-7060-B7F58301EC45}"/>
              </a:ext>
            </a:extLst>
          </p:cNvPr>
          <p:cNvGrpSpPr/>
          <p:nvPr/>
        </p:nvGrpSpPr>
        <p:grpSpPr>
          <a:xfrm>
            <a:off x="288001" y="1002934"/>
            <a:ext cx="4639034" cy="5152008"/>
            <a:chOff x="216000" y="752200"/>
            <a:chExt cx="3479275" cy="3864006"/>
          </a:xfrm>
        </p:grpSpPr>
        <p:sp>
          <p:nvSpPr>
            <p:cNvPr id="18" name="Google Shape;288;p37">
              <a:extLst>
                <a:ext uri="{FF2B5EF4-FFF2-40B4-BE49-F238E27FC236}">
                  <a16:creationId xmlns:a16="http://schemas.microsoft.com/office/drawing/2014/main" id="{55531EFD-EC29-9A06-F95F-6A686AEC60C5}"/>
                </a:ext>
              </a:extLst>
            </p:cNvPr>
            <p:cNvSpPr/>
            <p:nvPr/>
          </p:nvSpPr>
          <p:spPr>
            <a:xfrm>
              <a:off x="216000" y="1148506"/>
              <a:ext cx="3467700" cy="34677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blurRad="285750" dist="285750" dir="7800000" algn="bl" rotWithShape="0">
                <a:schemeClr val="dk1">
                  <a:alpha val="4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2400" dirty="0"/>
                <a:t>zzzz</a:t>
              </a:r>
              <a:endParaRPr sz="2400" dirty="0"/>
            </a:p>
          </p:txBody>
        </p:sp>
        <p:grpSp>
          <p:nvGrpSpPr>
            <p:cNvPr id="19" name="Google Shape;289;p37">
              <a:extLst>
                <a:ext uri="{FF2B5EF4-FFF2-40B4-BE49-F238E27FC236}">
                  <a16:creationId xmlns:a16="http://schemas.microsoft.com/office/drawing/2014/main" id="{EFB93F69-F8FB-6415-8113-330670180951}"/>
                </a:ext>
              </a:extLst>
            </p:cNvPr>
            <p:cNvGrpSpPr/>
            <p:nvPr/>
          </p:nvGrpSpPr>
          <p:grpSpPr>
            <a:xfrm>
              <a:off x="216000" y="752200"/>
              <a:ext cx="3479275" cy="171000"/>
              <a:chOff x="216000" y="752200"/>
              <a:chExt cx="3479275" cy="171000"/>
            </a:xfrm>
          </p:grpSpPr>
          <p:sp>
            <p:nvSpPr>
              <p:cNvPr id="20" name="Google Shape;290;p37">
                <a:extLst>
                  <a:ext uri="{FF2B5EF4-FFF2-40B4-BE49-F238E27FC236}">
                    <a16:creationId xmlns:a16="http://schemas.microsoft.com/office/drawing/2014/main" id="{876353EB-4D3F-E7C8-EA66-982C5812B956}"/>
                  </a:ext>
                </a:extLst>
              </p:cNvPr>
              <p:cNvSpPr/>
              <p:nvPr/>
            </p:nvSpPr>
            <p:spPr>
              <a:xfrm>
                <a:off x="216000" y="752200"/>
                <a:ext cx="181800" cy="171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285750" dist="285750" dir="7800000" algn="bl" rotWithShape="0">
                  <a:schemeClr val="dk1">
                    <a:alpha val="40000"/>
                  </a:scheme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21" name="Google Shape;291;p37">
                <a:extLst>
                  <a:ext uri="{FF2B5EF4-FFF2-40B4-BE49-F238E27FC236}">
                    <a16:creationId xmlns:a16="http://schemas.microsoft.com/office/drawing/2014/main" id="{AAABF907-D0D6-BD50-8126-F6ABAB8CB6F8}"/>
                  </a:ext>
                </a:extLst>
              </p:cNvPr>
              <p:cNvSpPr/>
              <p:nvPr/>
            </p:nvSpPr>
            <p:spPr>
              <a:xfrm>
                <a:off x="576175" y="752200"/>
                <a:ext cx="3119100" cy="171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285750" dist="285750" dir="7800000" algn="bl" rotWithShape="0">
                  <a:schemeClr val="dk1">
                    <a:alpha val="40000"/>
                  </a:schemeClr>
                </a:outerShdw>
              </a:effectLst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</p:grp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506947-3F2C-E2C8-2676-0EB8A9CB5789}"/>
              </a:ext>
            </a:extLst>
          </p:cNvPr>
          <p:cNvCxnSpPr>
            <a:cxnSpLocks/>
          </p:cNvCxnSpPr>
          <p:nvPr/>
        </p:nvCxnSpPr>
        <p:spPr>
          <a:xfrm>
            <a:off x="5578798" y="2432971"/>
            <a:ext cx="568864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285;p37">
            <a:extLst>
              <a:ext uri="{FF2B5EF4-FFF2-40B4-BE49-F238E27FC236}">
                <a16:creationId xmlns:a16="http://schemas.microsoft.com/office/drawing/2014/main" id="{6EA0A3F3-1864-7CA9-178C-A736A02AB011}"/>
              </a:ext>
            </a:extLst>
          </p:cNvPr>
          <p:cNvSpPr txBox="1">
            <a:spLocks/>
          </p:cNvSpPr>
          <p:nvPr/>
        </p:nvSpPr>
        <p:spPr>
          <a:xfrm>
            <a:off x="5574567" y="2432971"/>
            <a:ext cx="5673213" cy="63909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lvl="0" algn="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 sz="2000" b="1" i="0" dirty="0">
                <a:latin typeface="+mn-lt"/>
              </a:rPr>
              <a:t>Insights from SQL, Power BI, and Machine Learning</a:t>
            </a:r>
          </a:p>
        </p:txBody>
      </p:sp>
      <p:pic>
        <p:nvPicPr>
          <p:cNvPr id="24" name="Picture Placeholder 8">
            <a:extLst>
              <a:ext uri="{FF2B5EF4-FFF2-40B4-BE49-F238E27FC236}">
                <a16:creationId xmlns:a16="http://schemas.microsoft.com/office/drawing/2014/main" id="{4B0D33AC-FE80-D2AE-9AAE-090C7DE58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3" r="9723"/>
          <a:stretch>
            <a:fillRect/>
          </a:stretch>
        </p:blipFill>
        <p:spPr>
          <a:xfrm>
            <a:off x="348172" y="1588960"/>
            <a:ext cx="4503258" cy="4508363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5" name="Google Shape;286;p37">
            <a:extLst>
              <a:ext uri="{FF2B5EF4-FFF2-40B4-BE49-F238E27FC236}">
                <a16:creationId xmlns:a16="http://schemas.microsoft.com/office/drawing/2014/main" id="{AE7929A9-3935-1651-025D-A2DC196D4831}"/>
              </a:ext>
            </a:extLst>
          </p:cNvPr>
          <p:cNvSpPr txBox="1">
            <a:spLocks/>
          </p:cNvSpPr>
          <p:nvPr/>
        </p:nvSpPr>
        <p:spPr>
          <a:xfrm>
            <a:off x="5574567" y="4178392"/>
            <a:ext cx="5673213" cy="5214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lvl="0" indent="-2286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2000" b="1" dirty="0">
                <a:latin typeface="+mn-lt"/>
              </a:rPr>
              <a:t>Mentorship Program:</a:t>
            </a:r>
            <a:r>
              <a:rPr lang="en-US" sz="2000" dirty="0">
                <a:latin typeface="+mn-lt"/>
              </a:rPr>
              <a:t> WsCube Tech – Data Analytics</a:t>
            </a:r>
            <a:endParaRPr lang="en-IN" sz="2000" dirty="0">
              <a:latin typeface="+mn-lt"/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AA4D350F-F515-8A90-0B34-231CD2222784}"/>
              </a:ext>
            </a:extLst>
          </p:cNvPr>
          <p:cNvGrpSpPr/>
          <p:nvPr/>
        </p:nvGrpSpPr>
        <p:grpSpPr>
          <a:xfrm>
            <a:off x="98323" y="68826"/>
            <a:ext cx="11995354" cy="6701585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D8245E86-B2C3-BDD1-A0EF-B2328FF28355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1453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97;p38">
            <a:extLst>
              <a:ext uri="{FF2B5EF4-FFF2-40B4-BE49-F238E27FC236}">
                <a16:creationId xmlns:a16="http://schemas.microsoft.com/office/drawing/2014/main" id="{C7886B76-58A3-52B5-91CB-263320DC0FF7}"/>
              </a:ext>
            </a:extLst>
          </p:cNvPr>
          <p:cNvSpPr txBox="1">
            <a:spLocks/>
          </p:cNvSpPr>
          <p:nvPr/>
        </p:nvSpPr>
        <p:spPr>
          <a:xfrm>
            <a:off x="3464090" y="0"/>
            <a:ext cx="5263819" cy="44885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IN" b="1" dirty="0"/>
              <a:t>PROBLEM STATEMENT</a:t>
            </a:r>
          </a:p>
        </p:txBody>
      </p:sp>
      <p:sp>
        <p:nvSpPr>
          <p:cNvPr id="3" name="Google Shape;299;p38">
            <a:extLst>
              <a:ext uri="{FF2B5EF4-FFF2-40B4-BE49-F238E27FC236}">
                <a16:creationId xmlns:a16="http://schemas.microsoft.com/office/drawing/2014/main" id="{D2FEF56A-1114-6C97-8FD2-DDA578C9ACEE}"/>
              </a:ext>
            </a:extLst>
          </p:cNvPr>
          <p:cNvSpPr txBox="1"/>
          <p:nvPr/>
        </p:nvSpPr>
        <p:spPr>
          <a:xfrm>
            <a:off x="960000" y="1240638"/>
            <a:ext cx="10272000" cy="421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0" bIns="121900" anchor="t" anchorCtr="0">
            <a:noAutofit/>
          </a:bodyPr>
          <a:lstStyle/>
          <a:p>
            <a:r>
              <a:rPr lang="en-US" sz="2000" dirty="0"/>
              <a:t>As a Data Analyst at Global Fashion Retail, a multinational apparel brand with stores across multiple countries, your mission is to transform raw transactional and customer data into strategic insights. Your analysis will help the company:</a:t>
            </a:r>
          </a:p>
          <a:p>
            <a:endParaRPr lang="en-US" sz="2400" b="1" dirty="0"/>
          </a:p>
          <a:p>
            <a:r>
              <a:rPr lang="en-US" sz="2400" b="1" dirty="0"/>
              <a:t>Goal: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Optimize product assortment and pricing strategies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Identify high-value customers and improve retention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Measure promotion effectiveness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dirty="0"/>
              <a:t>Reduce returns and operational inefficiencies</a:t>
            </a:r>
          </a:p>
          <a:p>
            <a:endParaRPr lang="en-US" sz="2000" dirty="0"/>
          </a:p>
          <a:p>
            <a:r>
              <a:rPr lang="en-US" sz="2000" dirty="0"/>
              <a:t>This capstone simulates a real-world, end-to-end analytics project, combining advanced SQL querying, interactive dashboards, and machine learning for predictive modeling.</a:t>
            </a: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CA575B95-AB73-A8F7-D3CF-546CAF7FFF65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E658071C-9386-28AD-C994-221604508425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341018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08;p39">
            <a:extLst>
              <a:ext uri="{FF2B5EF4-FFF2-40B4-BE49-F238E27FC236}">
                <a16:creationId xmlns:a16="http://schemas.microsoft.com/office/drawing/2014/main" id="{62C09908-FCC6-5E59-FC1D-61A1E7E57338}"/>
              </a:ext>
            </a:extLst>
          </p:cNvPr>
          <p:cNvSpPr txBox="1">
            <a:spLocks/>
          </p:cNvSpPr>
          <p:nvPr/>
        </p:nvSpPr>
        <p:spPr>
          <a:xfrm>
            <a:off x="3495715" y="0"/>
            <a:ext cx="5200568" cy="568142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TABLE OF CONTENTS</a:t>
            </a:r>
          </a:p>
        </p:txBody>
      </p:sp>
      <p:sp>
        <p:nvSpPr>
          <p:cNvPr id="8" name="Google Shape;315;p39">
            <a:extLst>
              <a:ext uri="{FF2B5EF4-FFF2-40B4-BE49-F238E27FC236}">
                <a16:creationId xmlns:a16="http://schemas.microsoft.com/office/drawing/2014/main" id="{1CEFC62A-F82D-85F7-C237-F7F381287FE0}"/>
              </a:ext>
            </a:extLst>
          </p:cNvPr>
          <p:cNvSpPr txBox="1">
            <a:spLocks/>
          </p:cNvSpPr>
          <p:nvPr/>
        </p:nvSpPr>
        <p:spPr>
          <a:xfrm>
            <a:off x="452284" y="973624"/>
            <a:ext cx="11287431" cy="591410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PROJECT OVERVIEW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PROJECT OBJECTIVES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ALL 10 BUSINESS QUESTIONS (Query → Output → Key Insights → Recommendations)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Multi-page Power BI Dashboard Screenshots (Key Insights → Recommendations)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Machine Learning Overview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Return Prediction Model – Evaluation &amp; Summary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Monthly Demand Forecasting – Evaluation &amp; Summary</a:t>
            </a:r>
            <a:endParaRPr lang="en-IN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/>
              <a:t>Final Strategic Recommendations (Overall)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400" dirty="0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6E97A26E-1234-C0DF-A5F6-1F099455743F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193B65E2-B927-D38A-0A56-967DC473366C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32524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83;p45">
            <a:extLst>
              <a:ext uri="{FF2B5EF4-FFF2-40B4-BE49-F238E27FC236}">
                <a16:creationId xmlns:a16="http://schemas.microsoft.com/office/drawing/2014/main" id="{A8D45516-E2CB-6908-822A-06F97167628D}"/>
              </a:ext>
            </a:extLst>
          </p:cNvPr>
          <p:cNvSpPr txBox="1">
            <a:spLocks/>
          </p:cNvSpPr>
          <p:nvPr/>
        </p:nvSpPr>
        <p:spPr>
          <a:xfrm>
            <a:off x="-25666" y="2947067"/>
            <a:ext cx="3657012" cy="30112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Perform data-driven analysis using SQL to answer 10 business questions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Develop an interactive Power BI dashboard for executive insights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Build ML models to predict returns and forecast sales</a:t>
            </a:r>
          </a:p>
        </p:txBody>
      </p:sp>
      <p:sp>
        <p:nvSpPr>
          <p:cNvPr id="3" name="Google Shape;384;p45">
            <a:extLst>
              <a:ext uri="{FF2B5EF4-FFF2-40B4-BE49-F238E27FC236}">
                <a16:creationId xmlns:a16="http://schemas.microsoft.com/office/drawing/2014/main" id="{4D08C291-1A6C-E467-5439-CD3B13B3EACC}"/>
              </a:ext>
            </a:extLst>
          </p:cNvPr>
          <p:cNvSpPr txBox="1">
            <a:spLocks/>
          </p:cNvSpPr>
          <p:nvPr/>
        </p:nvSpPr>
        <p:spPr>
          <a:xfrm>
            <a:off x="8103576" y="2947067"/>
            <a:ext cx="4088423" cy="352310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SQL</a:t>
            </a:r>
            <a:r>
              <a:rPr lang="en-US" sz="2000" dirty="0"/>
              <a:t> – Data extraction &amp; business query analysis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Power BI</a:t>
            </a:r>
            <a:r>
              <a:rPr lang="en-US" sz="2000" dirty="0"/>
              <a:t> – Dashboard visualization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Python (ML)</a:t>
            </a:r>
            <a:r>
              <a:rPr lang="en-US" sz="2000" dirty="0"/>
              <a:t> – Predictive analytics &amp; forecasting</a:t>
            </a:r>
          </a:p>
        </p:txBody>
      </p:sp>
      <p:sp>
        <p:nvSpPr>
          <p:cNvPr id="4" name="Google Shape;386;p45">
            <a:extLst>
              <a:ext uri="{FF2B5EF4-FFF2-40B4-BE49-F238E27FC236}">
                <a16:creationId xmlns:a16="http://schemas.microsoft.com/office/drawing/2014/main" id="{D4C638E9-CE29-644B-5BDC-0A53AE80492B}"/>
              </a:ext>
            </a:extLst>
          </p:cNvPr>
          <p:cNvSpPr txBox="1">
            <a:spLocks/>
          </p:cNvSpPr>
          <p:nvPr/>
        </p:nvSpPr>
        <p:spPr>
          <a:xfrm>
            <a:off x="1391140" y="2337467"/>
            <a:ext cx="1647027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/>
              <a:t>SCOPE</a:t>
            </a:r>
          </a:p>
        </p:txBody>
      </p:sp>
      <p:sp>
        <p:nvSpPr>
          <p:cNvPr id="5" name="Google Shape;387;p45">
            <a:extLst>
              <a:ext uri="{FF2B5EF4-FFF2-40B4-BE49-F238E27FC236}">
                <a16:creationId xmlns:a16="http://schemas.microsoft.com/office/drawing/2014/main" id="{1FD7181B-7069-E51F-E242-278F87EC6731}"/>
              </a:ext>
            </a:extLst>
          </p:cNvPr>
          <p:cNvSpPr txBox="1">
            <a:spLocks/>
          </p:cNvSpPr>
          <p:nvPr/>
        </p:nvSpPr>
        <p:spPr>
          <a:xfrm>
            <a:off x="8605348" y="2337467"/>
            <a:ext cx="2736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/>
              <a:t>TOOLS USED</a:t>
            </a:r>
          </a:p>
        </p:txBody>
      </p:sp>
      <p:sp>
        <p:nvSpPr>
          <p:cNvPr id="6" name="Google Shape;388;p45">
            <a:extLst>
              <a:ext uri="{FF2B5EF4-FFF2-40B4-BE49-F238E27FC236}">
                <a16:creationId xmlns:a16="http://schemas.microsoft.com/office/drawing/2014/main" id="{7743F56A-E2E2-0F03-D198-31D070212C9A}"/>
              </a:ext>
            </a:extLst>
          </p:cNvPr>
          <p:cNvSpPr txBox="1">
            <a:spLocks/>
          </p:cNvSpPr>
          <p:nvPr/>
        </p:nvSpPr>
        <p:spPr>
          <a:xfrm>
            <a:off x="4974467" y="2397142"/>
            <a:ext cx="2736800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200" b="1" dirty="0"/>
              <a:t>DATASET</a:t>
            </a:r>
          </a:p>
        </p:txBody>
      </p:sp>
      <p:sp>
        <p:nvSpPr>
          <p:cNvPr id="7" name="Google Shape;407;p46">
            <a:extLst>
              <a:ext uri="{FF2B5EF4-FFF2-40B4-BE49-F238E27FC236}">
                <a16:creationId xmlns:a16="http://schemas.microsoft.com/office/drawing/2014/main" id="{4E42F669-D06F-C89A-6E0C-0968EF0DB298}"/>
              </a:ext>
            </a:extLst>
          </p:cNvPr>
          <p:cNvSpPr txBox="1">
            <a:spLocks/>
          </p:cNvSpPr>
          <p:nvPr/>
        </p:nvSpPr>
        <p:spPr>
          <a:xfrm>
            <a:off x="3704980" y="0"/>
            <a:ext cx="4782039" cy="60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/>
              <a:t>PROJECT OVERVIEW</a:t>
            </a:r>
          </a:p>
        </p:txBody>
      </p:sp>
      <p:sp>
        <p:nvSpPr>
          <p:cNvPr id="8" name="Google Shape;383;p45">
            <a:extLst>
              <a:ext uri="{FF2B5EF4-FFF2-40B4-BE49-F238E27FC236}">
                <a16:creationId xmlns:a16="http://schemas.microsoft.com/office/drawing/2014/main" id="{054923B3-5AA8-0FA7-DE58-9313BAF08F41}"/>
              </a:ext>
            </a:extLst>
          </p:cNvPr>
          <p:cNvSpPr txBox="1">
            <a:spLocks/>
          </p:cNvSpPr>
          <p:nvPr/>
        </p:nvSpPr>
        <p:spPr>
          <a:xfrm>
            <a:off x="2014527" y="1481617"/>
            <a:ext cx="8656681" cy="97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2000" dirty="0"/>
              <a:t>This project focuses on analyzing </a:t>
            </a:r>
            <a:r>
              <a:rPr lang="en-US" sz="2000" i="1" dirty="0"/>
              <a:t>Global Fashion Retail’s</a:t>
            </a:r>
            <a:r>
              <a:rPr lang="en-US" sz="2000" dirty="0"/>
              <a:t> operations to uncover insights that support strategic decisions.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4E2A509-508C-D4E1-197E-514C1BD97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233858"/>
              </p:ext>
            </p:extLst>
          </p:nvPr>
        </p:nvGraphicFramePr>
        <p:xfrm>
          <a:off x="4080386" y="3409336"/>
          <a:ext cx="3574150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7075">
                  <a:extLst>
                    <a:ext uri="{9D8B030D-6E8A-4147-A177-3AD203B41FA5}">
                      <a16:colId xmlns:a16="http://schemas.microsoft.com/office/drawing/2014/main" val="1707223929"/>
                    </a:ext>
                  </a:extLst>
                </a:gridCol>
                <a:gridCol w="1787075">
                  <a:extLst>
                    <a:ext uri="{9D8B030D-6E8A-4147-A177-3AD203B41FA5}">
                      <a16:colId xmlns:a16="http://schemas.microsoft.com/office/drawing/2014/main" val="4180117941"/>
                    </a:ext>
                  </a:extLst>
                </a:gridCol>
              </a:tblGrid>
              <a:tr h="696292">
                <a:tc>
                  <a:txBody>
                    <a:bodyPr/>
                    <a:lstStyle/>
                    <a:p>
                      <a:pPr algn="ctr"/>
                      <a:endParaRPr lang="en-IN" sz="2000" dirty="0"/>
                    </a:p>
                    <a:p>
                      <a:pPr algn="ctr"/>
                      <a:r>
                        <a:rPr lang="en-IN" sz="2000" dirty="0"/>
                        <a:t>DATASET</a:t>
                      </a:r>
                    </a:p>
                    <a:p>
                      <a:pPr algn="ctr"/>
                      <a:r>
                        <a:rPr lang="en-IN" sz="2000" dirty="0"/>
                        <a:t>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/>
                    </a:p>
                    <a:p>
                      <a:pPr algn="ctr"/>
                      <a:r>
                        <a:rPr lang="en-IN" sz="2000" dirty="0"/>
                        <a:t>TIME PERIOD COVERD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452385"/>
                  </a:ext>
                </a:extLst>
              </a:tr>
              <a:tr h="1724408">
                <a:tc>
                  <a:txBody>
                    <a:bodyPr/>
                    <a:lstStyle/>
                    <a:p>
                      <a:r>
                        <a:rPr lang="en-IN" sz="2000" dirty="0">
                          <a:hlinkClick r:id="rId2"/>
                        </a:rPr>
                        <a:t>https://drive.google.com/file/d/1evgN42dtPleHtd545rJsRWj6_1nQNsXH/view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JAN 2023 TO</a:t>
                      </a:r>
                    </a:p>
                    <a:p>
                      <a:pPr algn="ctr"/>
                      <a:r>
                        <a:rPr lang="en-IN" sz="2000" dirty="0"/>
                        <a:t>MAR 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9349358"/>
                  </a:ext>
                </a:extLst>
              </a:tr>
            </a:tbl>
          </a:graphicData>
        </a:graphic>
      </p:graphicFrame>
      <p:pic>
        <p:nvPicPr>
          <p:cNvPr id="10" name="Graphic 9" descr="Daily calendar with solid fill">
            <a:extLst>
              <a:ext uri="{FF2B5EF4-FFF2-40B4-BE49-F238E27FC236}">
                <a16:creationId xmlns:a16="http://schemas.microsoft.com/office/drawing/2014/main" id="{D518AF39-81CC-54EF-CAF0-3FFEBC551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7111" y="2904904"/>
            <a:ext cx="914400" cy="914400"/>
          </a:xfrm>
          <a:prstGeom prst="rect">
            <a:avLst/>
          </a:prstGeom>
        </p:spPr>
      </p:pic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829A78E-9561-7047-530C-5F447D5A37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2157" y="2984484"/>
            <a:ext cx="1035198" cy="775716"/>
          </a:xfrm>
          <a:prstGeom prst="rect">
            <a:avLst/>
          </a:prstGeom>
        </p:spPr>
      </p:pic>
      <p:grpSp>
        <p:nvGrpSpPr>
          <p:cNvPr id="12" name="Group 12">
            <a:extLst>
              <a:ext uri="{FF2B5EF4-FFF2-40B4-BE49-F238E27FC236}">
                <a16:creationId xmlns:a16="http://schemas.microsoft.com/office/drawing/2014/main" id="{D3102C0E-D542-F73F-5968-BD64D6B15143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B5A4313-E639-0B52-3AF5-FCDA07E13565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60149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1;p43">
            <a:extLst>
              <a:ext uri="{FF2B5EF4-FFF2-40B4-BE49-F238E27FC236}">
                <a16:creationId xmlns:a16="http://schemas.microsoft.com/office/drawing/2014/main" id="{25FAC20A-02CC-35DD-9BA1-84B5C51864DC}"/>
              </a:ext>
            </a:extLst>
          </p:cNvPr>
          <p:cNvSpPr txBox="1">
            <a:spLocks/>
          </p:cNvSpPr>
          <p:nvPr/>
        </p:nvSpPr>
        <p:spPr>
          <a:xfrm>
            <a:off x="3627470" y="0"/>
            <a:ext cx="4937057" cy="82825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PROJECT OBJECTIVES</a:t>
            </a:r>
            <a:endParaRPr lang="en-IN" dirty="0"/>
          </a:p>
        </p:txBody>
      </p:sp>
      <p:sp>
        <p:nvSpPr>
          <p:cNvPr id="5" name="Google Shape;352;p43">
            <a:extLst>
              <a:ext uri="{FF2B5EF4-FFF2-40B4-BE49-F238E27FC236}">
                <a16:creationId xmlns:a16="http://schemas.microsoft.com/office/drawing/2014/main" id="{1B034857-274D-BEC6-E090-4B0FB38E7B82}"/>
              </a:ext>
            </a:extLst>
          </p:cNvPr>
          <p:cNvSpPr txBox="1">
            <a:spLocks/>
          </p:cNvSpPr>
          <p:nvPr/>
        </p:nvSpPr>
        <p:spPr>
          <a:xfrm>
            <a:off x="452283" y="1533832"/>
            <a:ext cx="11287433" cy="46764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SQL Insights Extraction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Use advanced SQL to extract business-critical insights from Global Fashion Retail’s operations, enabling leadership to make informed strategic decisions.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Interactive Dashboard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Build a multi-page Power BI dashboard to visualize sales trends, product performance, promotions, and customer behavior for executive-level analytics.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Machine Learning Applications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Develop ML models to predict returns and forecast demand, optimizing operations and inventory management.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0D6397BB-14D7-66D6-CF81-D845E1C4781B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8E862215-7651-6388-BD7B-976B995D2386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627761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F9BC301E-14AB-0E5C-9773-845FB389B522}"/>
              </a:ext>
            </a:extLst>
          </p:cNvPr>
          <p:cNvSpPr txBox="1">
            <a:spLocks/>
          </p:cNvSpPr>
          <p:nvPr/>
        </p:nvSpPr>
        <p:spPr>
          <a:xfrm>
            <a:off x="532732" y="1009065"/>
            <a:ext cx="11126522" cy="6635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Retrieve the number of unique customers by country and city along with their average purchase value.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8639809A-8524-DD0B-E268-2692775488AD}"/>
              </a:ext>
            </a:extLst>
          </p:cNvPr>
          <p:cNvSpPr txBox="1">
            <a:spLocks/>
          </p:cNvSpPr>
          <p:nvPr/>
        </p:nvSpPr>
        <p:spPr>
          <a:xfrm>
            <a:off x="1471111" y="0"/>
            <a:ext cx="8738103" cy="4181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latin typeface="+mj-lt"/>
              </a:rPr>
              <a:t>1. Customer Demographics Analysis</a:t>
            </a:r>
            <a:br>
              <a:rPr lang="en-US" sz="4400" b="1" dirty="0">
                <a:latin typeface="+mj-lt"/>
              </a:rPr>
            </a:br>
            <a:endParaRPr lang="en-US" sz="44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C271AA-60D7-AD3F-60C3-B7B187679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182" y="2259727"/>
            <a:ext cx="8125959" cy="135273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27" name="Google Shape;534;p55">
            <a:extLst>
              <a:ext uri="{FF2B5EF4-FFF2-40B4-BE49-F238E27FC236}">
                <a16:creationId xmlns:a16="http://schemas.microsoft.com/office/drawing/2014/main" id="{C218487D-169E-729C-B3B8-250120A1D36D}"/>
              </a:ext>
            </a:extLst>
          </p:cNvPr>
          <p:cNvSpPr/>
          <p:nvPr/>
        </p:nvSpPr>
        <p:spPr>
          <a:xfrm>
            <a:off x="2448392" y="4199589"/>
            <a:ext cx="6783538" cy="1834068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7EC3F45-5AA6-39B7-BD0E-FCB5FB3DD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801918"/>
              </p:ext>
            </p:extLst>
          </p:nvPr>
        </p:nvGraphicFramePr>
        <p:xfrm>
          <a:off x="2610266" y="4300110"/>
          <a:ext cx="6459789" cy="1633026"/>
        </p:xfrm>
        <a:graphic>
          <a:graphicData uri="http://schemas.openxmlformats.org/drawingml/2006/table">
            <a:tbl>
              <a:tblPr/>
              <a:tblGrid>
                <a:gridCol w="1181437">
                  <a:extLst>
                    <a:ext uri="{9D8B030D-6E8A-4147-A177-3AD203B41FA5}">
                      <a16:colId xmlns:a16="http://schemas.microsoft.com/office/drawing/2014/main" val="465632890"/>
                    </a:ext>
                  </a:extLst>
                </a:gridCol>
                <a:gridCol w="1295770">
                  <a:extLst>
                    <a:ext uri="{9D8B030D-6E8A-4147-A177-3AD203B41FA5}">
                      <a16:colId xmlns:a16="http://schemas.microsoft.com/office/drawing/2014/main" val="2174159606"/>
                    </a:ext>
                  </a:extLst>
                </a:gridCol>
                <a:gridCol w="2038930">
                  <a:extLst>
                    <a:ext uri="{9D8B030D-6E8A-4147-A177-3AD203B41FA5}">
                      <a16:colId xmlns:a16="http://schemas.microsoft.com/office/drawing/2014/main" val="2465959964"/>
                    </a:ext>
                  </a:extLst>
                </a:gridCol>
                <a:gridCol w="1943652">
                  <a:extLst>
                    <a:ext uri="{9D8B030D-6E8A-4147-A177-3AD203B41FA5}">
                      <a16:colId xmlns:a16="http://schemas.microsoft.com/office/drawing/2014/main" val="2094016636"/>
                    </a:ext>
                  </a:extLst>
                </a:gridCol>
              </a:tblGrid>
              <a:tr h="2721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Country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City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Num_of_Unique_Cust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Avg_Purchase_Value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380940"/>
                  </a:ext>
                </a:extLst>
              </a:tr>
              <a:tr h="2721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Deutschland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Ahrensburg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101.96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857680"/>
                  </a:ext>
                </a:extLst>
              </a:tr>
              <a:tr h="2721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Deutschland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Altona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1550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101.75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913786"/>
                  </a:ext>
                </a:extLst>
              </a:tr>
              <a:tr h="2721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Deutschland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Bad Homburg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964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86.05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757143"/>
                  </a:ext>
                </a:extLst>
              </a:tr>
              <a:tr h="2721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Deutschland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Barsinghausen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22.97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887355"/>
                  </a:ext>
                </a:extLst>
              </a:tr>
              <a:tr h="2721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Deutschland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Bergedorf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1502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101.86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181563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50641EA8-C78E-E009-0C33-8BB30F906AA5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C4083485-52D4-4CCF-52A2-7ADA2A0D2C14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17855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BF625DAC-9787-532F-EDD5-12DA0FB85C83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A7680D3B-F9DB-021C-1571-FCE65E01ACB2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ED99582-FCF2-5937-BF3B-9FA5F59CD0AD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A55F14BF-319B-30B2-EDA7-A7CF90FCEF0B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56E1982-0817-CB82-A213-A53B7E244AD2}"/>
              </a:ext>
            </a:extLst>
          </p:cNvPr>
          <p:cNvSpPr txBox="1"/>
          <p:nvPr/>
        </p:nvSpPr>
        <p:spPr>
          <a:xfrm>
            <a:off x="672184" y="1157546"/>
            <a:ext cx="50636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+mj-lt"/>
              <a:buAutoNum type="arabicPeriod"/>
              <a:tabLst/>
            </a:pPr>
            <a:r>
              <a:rPr lang="en-US" altLang="en-US" sz="1600" b="1" dirty="0"/>
              <a:t>Customer Concentration :</a:t>
            </a:r>
            <a:br>
              <a:rPr lang="en-US" altLang="en-US" sz="1600" b="1" dirty="0"/>
            </a:br>
            <a:r>
              <a:rPr lang="en-US" altLang="en-US" sz="1600" dirty="0"/>
              <a:t>Cities like Altona, Bergedorf, and Ahrensburg have the highest number of unique customers (≈1500+ each), indicating they are major customer hubs.</a:t>
            </a:r>
          </a:p>
          <a:p>
            <a:pPr marL="342900" marR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+mj-lt"/>
              <a:buAutoNum type="arabicPeriod"/>
              <a:tabLst/>
            </a:pPr>
            <a:endParaRPr lang="en-US" altLang="en-US" sz="1600" b="1" dirty="0"/>
          </a:p>
          <a:p>
            <a:pPr marL="342900" marR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+mj-lt"/>
              <a:buAutoNum type="arabicPeriod"/>
              <a:tabLst/>
            </a:pPr>
            <a:r>
              <a:rPr lang="en-US" altLang="en-US" sz="1600" b="1" dirty="0"/>
              <a:t>Average Purchase Value Variance:</a:t>
            </a:r>
            <a:br>
              <a:rPr lang="en-US" altLang="en-US" sz="1600" b="1" dirty="0"/>
            </a:br>
            <a:r>
              <a:rPr lang="en-US" altLang="en-US" sz="1600" dirty="0"/>
              <a:t>There’s a wide range in average purchase value — for instance, Bad Homburg has a lower average (≈86), while Barsinghausen is significantly lower (≈23), showing different spending behaviors.</a:t>
            </a:r>
          </a:p>
          <a:p>
            <a:pPr marL="342900" marR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+mj-lt"/>
              <a:buAutoNum type="arabicPeriod"/>
              <a:tabLst/>
            </a:pPr>
            <a:endParaRPr lang="en-US" altLang="en-US" sz="1600" b="1" dirty="0"/>
          </a:p>
          <a:p>
            <a:pPr marL="342900" marR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+mj-lt"/>
              <a:buAutoNum type="arabicPeriod"/>
              <a:tabLst/>
            </a:pPr>
            <a:r>
              <a:rPr lang="en-US" altLang="en-US" sz="1600" b="1" dirty="0"/>
              <a:t>High-Value Cities:</a:t>
            </a:r>
            <a:br>
              <a:rPr lang="en-US" altLang="en-US" sz="1600" b="1" dirty="0"/>
            </a:br>
            <a:r>
              <a:rPr lang="en-US" altLang="en-US" sz="1600" dirty="0"/>
              <a:t>Cities with both high customer counts and high average purchase values (like Altona &amp; Bergedorf) represent core revenue centers.</a:t>
            </a:r>
          </a:p>
          <a:p>
            <a:pPr marL="342900" marR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+mj-lt"/>
              <a:buAutoNum type="arabicPeriod"/>
              <a:tabLst/>
            </a:pPr>
            <a:endParaRPr lang="en-US" altLang="en-US" sz="1600" b="1" dirty="0"/>
          </a:p>
          <a:p>
            <a:pPr marL="342900" marR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+mj-lt"/>
              <a:buAutoNum type="arabicPeriod"/>
              <a:tabLst/>
            </a:pPr>
            <a:r>
              <a:rPr lang="en-US" altLang="en-US" sz="1600" b="1" dirty="0"/>
              <a:t>Low Engagement Areas:</a:t>
            </a:r>
            <a:br>
              <a:rPr lang="en-US" altLang="en-US" sz="1600" b="1" dirty="0"/>
            </a:br>
            <a:r>
              <a:rPr lang="en-US" altLang="en-US" sz="1600" dirty="0"/>
              <a:t>Cities with low purchase values and fewer customers (like Barsinghausen) may indicate emerging or underperforming markets</a:t>
            </a:r>
            <a:endParaRPr lang="en-IN" sz="1600" dirty="0"/>
          </a:p>
          <a:p>
            <a:pPr marL="342900" indent="-342900">
              <a:buFont typeface="+mj-lt"/>
              <a:buAutoNum type="arabicPeriod"/>
            </a:pPr>
            <a:endParaRPr lang="en-IN" sz="1600" b="1" dirty="0">
              <a:solidFill>
                <a:srgbClr val="C62828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5E2B1-B3F9-8980-5A85-875F4B1BBEAF}"/>
              </a:ext>
            </a:extLst>
          </p:cNvPr>
          <p:cNvSpPr txBox="1"/>
          <p:nvPr/>
        </p:nvSpPr>
        <p:spPr>
          <a:xfrm>
            <a:off x="6424063" y="1157546"/>
            <a:ext cx="506364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Focus on High-Value Cities: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Strengthen marketing and retention in top-performing cities (Altona, Ahrensburg, Bergedorf) to boost ROI.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Improve Low-Value Regions: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Analyze and address factors behind low purchase values (e.g., pricing or awareness) in cities like Barsinghausen.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Targeted Customer Segmentation: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Use demographic and geographic insights to deliver region-specific offers.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Boost Mid-Tier Markets: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Apply loyalty programs or promotions in moderate-performing cities to increase customer spend.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092F4-DF38-D203-BC33-2BD1E7F07897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D8DA6-2891-0B57-2BFA-65173DCA55C2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194376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3135-CA71-3746-3BE3-DFF978CB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C95515C0-C1F2-6B55-2421-328900413D89}"/>
              </a:ext>
            </a:extLst>
          </p:cNvPr>
          <p:cNvSpPr txBox="1">
            <a:spLocks/>
          </p:cNvSpPr>
          <p:nvPr/>
        </p:nvSpPr>
        <p:spPr>
          <a:xfrm>
            <a:off x="613191" y="1035817"/>
            <a:ext cx="10965605" cy="622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Calculate the percentage of returns compared to total transactions and track how it changes monthly.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CBC1AC6B-3647-CB74-619F-8AFD3C879567}"/>
              </a:ext>
            </a:extLst>
          </p:cNvPr>
          <p:cNvSpPr txBox="1">
            <a:spLocks/>
          </p:cNvSpPr>
          <p:nvPr/>
        </p:nvSpPr>
        <p:spPr>
          <a:xfrm>
            <a:off x="3013360" y="0"/>
            <a:ext cx="6165272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latin typeface="+mj-lt"/>
              </a:rPr>
              <a:t>2. Sales vs Returns Trends</a:t>
            </a:r>
            <a:endParaRPr lang="en-US" sz="44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F9EECC-7BE3-6548-1DF7-13238B00A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39" y="1991809"/>
            <a:ext cx="9554908" cy="1781424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8" name="Google Shape;534;p55">
            <a:extLst>
              <a:ext uri="{FF2B5EF4-FFF2-40B4-BE49-F238E27FC236}">
                <a16:creationId xmlns:a16="http://schemas.microsoft.com/office/drawing/2014/main" id="{DB27C16A-92F9-A00C-9576-AFBADB3D9091}"/>
              </a:ext>
            </a:extLst>
          </p:cNvPr>
          <p:cNvSpPr/>
          <p:nvPr/>
        </p:nvSpPr>
        <p:spPr>
          <a:xfrm>
            <a:off x="2704224" y="4315259"/>
            <a:ext cx="6783538" cy="1786295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65DDFE0-9CCC-8F52-45F1-5BE389375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64765"/>
              </p:ext>
            </p:extLst>
          </p:nvPr>
        </p:nvGraphicFramePr>
        <p:xfrm>
          <a:off x="2841517" y="4434976"/>
          <a:ext cx="6508952" cy="1546860"/>
        </p:xfrm>
        <a:graphic>
          <a:graphicData uri="http://schemas.openxmlformats.org/drawingml/2006/table">
            <a:tbl>
              <a:tblPr/>
              <a:tblGrid>
                <a:gridCol w="813619">
                  <a:extLst>
                    <a:ext uri="{9D8B030D-6E8A-4147-A177-3AD203B41FA5}">
                      <a16:colId xmlns:a16="http://schemas.microsoft.com/office/drawing/2014/main" val="1436628435"/>
                    </a:ext>
                  </a:extLst>
                </a:gridCol>
                <a:gridCol w="1002832">
                  <a:extLst>
                    <a:ext uri="{9D8B030D-6E8A-4147-A177-3AD203B41FA5}">
                      <a16:colId xmlns:a16="http://schemas.microsoft.com/office/drawing/2014/main" val="1569186212"/>
                    </a:ext>
                  </a:extLst>
                </a:gridCol>
                <a:gridCol w="1627237">
                  <a:extLst>
                    <a:ext uri="{9D8B030D-6E8A-4147-A177-3AD203B41FA5}">
                      <a16:colId xmlns:a16="http://schemas.microsoft.com/office/drawing/2014/main" val="1768521455"/>
                    </a:ext>
                  </a:extLst>
                </a:gridCol>
                <a:gridCol w="1778610">
                  <a:extLst>
                    <a:ext uri="{9D8B030D-6E8A-4147-A177-3AD203B41FA5}">
                      <a16:colId xmlns:a16="http://schemas.microsoft.com/office/drawing/2014/main" val="925446192"/>
                    </a:ext>
                  </a:extLst>
                </a:gridCol>
                <a:gridCol w="1286654">
                  <a:extLst>
                    <a:ext uri="{9D8B030D-6E8A-4147-A177-3AD203B41FA5}">
                      <a16:colId xmlns:a16="http://schemas.microsoft.com/office/drawing/2014/main" val="1737057775"/>
                    </a:ext>
                  </a:extLst>
                </a:gridCol>
              </a:tblGrid>
              <a:tr h="2205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SaleYear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SaleMonth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TotalSalesAmount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TotalReturnAmount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PercentReturn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603373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14793539.65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891617.87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6.00%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077061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12044607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700397.21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5.80%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56545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32054421.6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1808846.41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5.60%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261565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24753445.5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1344153.53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5.40%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924551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25428006.75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1348670.74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5.30%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037453"/>
                  </a:ext>
                </a:extLst>
              </a:tr>
              <a:tr h="2205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19564096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1096634.34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5.60%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211004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11275026-0379-379B-93F5-41AEBDB7C80A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ECF02092-48DE-FFAC-61FD-83B03A8B032D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616159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1E0C-52C4-724F-3C9B-7FAA860C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E20C69B7-6AFC-C3E5-4411-DACE5125D77F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685D612F-BC70-01E0-C94A-AB080C9C5F41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4059C4E0-A848-D1CD-1AD5-13E7C1E84BC5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A0DC0290-1109-A0FE-E160-65590E59093F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6A543F-0AD5-385D-9972-D5175A743B0F}"/>
              </a:ext>
            </a:extLst>
          </p:cNvPr>
          <p:cNvSpPr txBox="1"/>
          <p:nvPr/>
        </p:nvSpPr>
        <p:spPr>
          <a:xfrm>
            <a:off x="672184" y="1157546"/>
            <a:ext cx="50636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Declining Return Rate: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Return percentage dropped from </a:t>
            </a:r>
            <a:r>
              <a:rPr lang="en-US" altLang="en-US" sz="1600" b="1" dirty="0"/>
              <a:t>6.0% (Jan)</a:t>
            </a:r>
            <a:r>
              <a:rPr lang="en-US" altLang="en-US" sz="1600" dirty="0"/>
              <a:t> to </a:t>
            </a:r>
            <a:r>
              <a:rPr lang="en-US" altLang="en-US" sz="1600" b="1" dirty="0"/>
              <a:t>5.3% (May 2023)</a:t>
            </a:r>
            <a:r>
              <a:rPr lang="en-US" altLang="en-US" sz="1600" dirty="0"/>
              <a:t>, reflecting better quality or satisfaction.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Sales Peak: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b="1" dirty="0"/>
              <a:t>March 2023</a:t>
            </a:r>
            <a:r>
              <a:rPr lang="en-US" altLang="en-US" sz="1600" dirty="0"/>
              <a:t> saw the highest sales (₹32.05M), likely due to promotions or seasonal demand.</a:t>
            </a:r>
            <a:br>
              <a:rPr lang="en-US" altLang="en-US" sz="1600" dirty="0"/>
            </a:b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High Absolute Returns: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Even with lower return %, total return value stayed high because of large sales volumes.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Inverse Relationship: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Higher sales months showed slightly lower return percentages.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2749C-D70C-BBB8-7C85-F5EE4737EBDA}"/>
              </a:ext>
            </a:extLst>
          </p:cNvPr>
          <p:cNvSpPr txBox="1"/>
          <p:nvPr/>
        </p:nvSpPr>
        <p:spPr>
          <a:xfrm>
            <a:off x="6424063" y="1157546"/>
            <a:ext cx="50636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Maintain Quality: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Focus on product improvements and customer support to keep returns under </a:t>
            </a:r>
            <a:r>
              <a:rPr lang="en-US" altLang="en-US" sz="1600" b="1" dirty="0"/>
              <a:t>5%</a:t>
            </a:r>
            <a:r>
              <a:rPr lang="en-US" altLang="en-US" sz="1600" dirty="0"/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Leverage Sales Drivers: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Analyze and replicate factors behind </a:t>
            </a:r>
            <a:r>
              <a:rPr lang="en-US" altLang="en-US" sz="1600" b="1" dirty="0"/>
              <a:t>March’s success</a:t>
            </a:r>
            <a:r>
              <a:rPr lang="en-US" altLang="en-US" sz="1600" dirty="0"/>
              <a:t> in upcoming periods.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Reduce High Returns: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Identify top-return products or vendors and take corrective actions.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Plan Strategically: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Use sales–return trends for </a:t>
            </a:r>
            <a:r>
              <a:rPr lang="en-US" altLang="en-US" sz="1600" b="1" dirty="0"/>
              <a:t>accurate forecasting</a:t>
            </a:r>
            <a:r>
              <a:rPr lang="en-US" altLang="en-US" sz="1600" dirty="0"/>
              <a:t> and campaign planning.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829D6-AC14-2A0C-4D11-0AE4409F7D86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87C17-A35B-A08F-E1AD-59F858C55802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88752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5B59-9C6D-BCC6-458F-28AF97DEC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FCF377A8-4E9A-7E9F-8C7D-B9C12B72DAA6}"/>
              </a:ext>
            </a:extLst>
          </p:cNvPr>
          <p:cNvSpPr txBox="1">
            <a:spLocks/>
          </p:cNvSpPr>
          <p:nvPr/>
        </p:nvSpPr>
        <p:spPr>
          <a:xfrm>
            <a:off x="2004209" y="1014901"/>
            <a:ext cx="8183563" cy="622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Identify the top categories by total revenue and their share in overall sales.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DD41C278-ECD7-3085-0E2B-B6153A99A475}"/>
              </a:ext>
            </a:extLst>
          </p:cNvPr>
          <p:cNvSpPr txBox="1">
            <a:spLocks/>
          </p:cNvSpPr>
          <p:nvPr/>
        </p:nvSpPr>
        <p:spPr>
          <a:xfrm>
            <a:off x="2809449" y="0"/>
            <a:ext cx="6573089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400" b="1" dirty="0">
                <a:latin typeface="+mj-lt"/>
              </a:rPr>
              <a:t>3. Top Performing Categories</a:t>
            </a:r>
            <a:endParaRPr lang="en-US" sz="44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ED8520-79F2-D784-7C56-320B0F40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57" y="2085788"/>
            <a:ext cx="9612066" cy="13432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19" name="Google Shape;534;p55">
            <a:extLst>
              <a:ext uri="{FF2B5EF4-FFF2-40B4-BE49-F238E27FC236}">
                <a16:creationId xmlns:a16="http://schemas.microsoft.com/office/drawing/2014/main" id="{066AD6E6-1767-4F96-FD07-32EF17F486EE}"/>
              </a:ext>
            </a:extLst>
          </p:cNvPr>
          <p:cNvSpPr/>
          <p:nvPr/>
        </p:nvSpPr>
        <p:spPr>
          <a:xfrm>
            <a:off x="2756833" y="4137993"/>
            <a:ext cx="6678313" cy="1609824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A7736F2-0357-05F6-6759-94A5DE6B5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68468"/>
              </p:ext>
            </p:extLst>
          </p:nvPr>
        </p:nvGraphicFramePr>
        <p:xfrm>
          <a:off x="2902968" y="4248011"/>
          <a:ext cx="6386042" cy="1389788"/>
        </p:xfrm>
        <a:graphic>
          <a:graphicData uri="http://schemas.openxmlformats.org/drawingml/2006/table">
            <a:tbl>
              <a:tblPr/>
              <a:tblGrid>
                <a:gridCol w="1716679">
                  <a:extLst>
                    <a:ext uri="{9D8B030D-6E8A-4147-A177-3AD203B41FA5}">
                      <a16:colId xmlns:a16="http://schemas.microsoft.com/office/drawing/2014/main" val="802486142"/>
                    </a:ext>
                  </a:extLst>
                </a:gridCol>
                <a:gridCol w="2231681">
                  <a:extLst>
                    <a:ext uri="{9D8B030D-6E8A-4147-A177-3AD203B41FA5}">
                      <a16:colId xmlns:a16="http://schemas.microsoft.com/office/drawing/2014/main" val="325386967"/>
                    </a:ext>
                  </a:extLst>
                </a:gridCol>
                <a:gridCol w="2437682">
                  <a:extLst>
                    <a:ext uri="{9D8B030D-6E8A-4147-A177-3AD203B41FA5}">
                      <a16:colId xmlns:a16="http://schemas.microsoft.com/office/drawing/2014/main" val="3268312063"/>
                    </a:ext>
                  </a:extLst>
                </a:gridCol>
              </a:tblGrid>
              <a:tr h="3474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Total_Rev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Rev_Share_Pct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370754"/>
                  </a:ext>
                </a:extLst>
              </a:tr>
              <a:tr h="3474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Feminine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340685345.8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46.49%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105755"/>
                  </a:ext>
                </a:extLst>
              </a:tr>
              <a:tr h="3474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Masculine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326979394.6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44.62%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812793"/>
                  </a:ext>
                </a:extLst>
              </a:tr>
              <a:tr h="3474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Children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65080134.57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8.88%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802215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680AAF49-BB54-B3C7-7405-A2FB4363CD96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FE755343-BC0F-2638-784B-132875C67A6C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791444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0F48C-90B5-0E04-C594-FE3E47B5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5889C818-86AF-6782-EA51-7151238065ED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BA5B91A6-2096-EC86-5919-F9FE037C7210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67A5667-EDE1-B8FA-3207-2E2093CFB2BB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B49B9A93-AE49-5A72-7BEA-E8F382BE8E07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5923A59-4253-3AFB-FD77-D480003BD300}"/>
              </a:ext>
            </a:extLst>
          </p:cNvPr>
          <p:cNvSpPr txBox="1"/>
          <p:nvPr/>
        </p:nvSpPr>
        <p:spPr>
          <a:xfrm>
            <a:off x="672184" y="1157546"/>
            <a:ext cx="5063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Feminine category</a:t>
            </a:r>
            <a:r>
              <a:rPr lang="en-US" altLang="en-US" sz="1600" dirty="0"/>
              <a:t> contributes the highest revenue (₹340.7M), accounting for </a:t>
            </a:r>
            <a:r>
              <a:rPr lang="en-US" altLang="en-US" sz="1600" b="1" dirty="0"/>
              <a:t>46.49%</a:t>
            </a:r>
            <a:r>
              <a:rPr lang="en-US" altLang="en-US" sz="1600" dirty="0"/>
              <a:t> of total sales.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Masculine category</a:t>
            </a:r>
            <a:r>
              <a:rPr lang="en-US" altLang="en-US" sz="1600" dirty="0"/>
              <a:t> follows closely with </a:t>
            </a:r>
            <a:r>
              <a:rPr lang="en-US" altLang="en-US" sz="1600" b="1" dirty="0"/>
              <a:t>₹326.9M (44.62%)</a:t>
            </a:r>
            <a:r>
              <a:rPr lang="en-US" altLang="en-US" sz="1600" dirty="0"/>
              <a:t>, showing strong demand.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Children category</a:t>
            </a:r>
            <a:r>
              <a:rPr lang="en-US" altLang="en-US" sz="1600" dirty="0"/>
              <a:t> generates only </a:t>
            </a:r>
            <a:r>
              <a:rPr lang="en-US" altLang="en-US" sz="1600" b="1" dirty="0"/>
              <a:t>8.88%</a:t>
            </a:r>
            <a:r>
              <a:rPr lang="en-US" altLang="en-US" sz="1600" dirty="0"/>
              <a:t> of sales, indicating a smaller market presence.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Together, Feminine and Masculine segments dominate with </a:t>
            </a:r>
            <a:r>
              <a:rPr lang="en-US" altLang="en-US" sz="1600" b="1" dirty="0"/>
              <a:t>over 91%</a:t>
            </a:r>
            <a:r>
              <a:rPr lang="en-US" altLang="en-US" sz="1600" dirty="0"/>
              <a:t> of total revenue.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772D02-4BCA-DE2C-49CF-015A8B1E482F}"/>
              </a:ext>
            </a:extLst>
          </p:cNvPr>
          <p:cNvSpPr txBox="1"/>
          <p:nvPr/>
        </p:nvSpPr>
        <p:spPr>
          <a:xfrm>
            <a:off x="6424063" y="1157546"/>
            <a:ext cx="506364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Prioritize Feminine &amp; Masculine lines</a:t>
            </a:r>
            <a:r>
              <a:rPr lang="en-US" altLang="en-US" sz="1600" dirty="0">
                <a:latin typeface="Arial" panose="020B0604020202020204" pitchFamily="34" charset="0"/>
              </a:rPr>
              <a:t> — focus marketing, inventory, and new launches here to maximize ROI.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Expand Children category</a:t>
            </a:r>
            <a:r>
              <a:rPr lang="en-US" altLang="en-US" sz="1600" dirty="0">
                <a:latin typeface="Arial" panose="020B0604020202020204" pitchFamily="34" charset="0"/>
              </a:rPr>
              <a:t> through targeted campaigns, bundling, or new product introductions.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Diversify offerings</a:t>
            </a:r>
            <a:r>
              <a:rPr lang="en-US" altLang="en-US" sz="1600" dirty="0">
                <a:latin typeface="Arial" panose="020B0604020202020204" pitchFamily="34" charset="0"/>
              </a:rPr>
              <a:t> to reduce over-reliance on top two segments.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>
                <a:latin typeface="Arial" panose="020B0604020202020204" pitchFamily="34" charset="0"/>
              </a:rPr>
              <a:t>Analyze subcategory trends</a:t>
            </a:r>
            <a:r>
              <a:rPr lang="en-US" altLang="en-US" sz="1600" dirty="0">
                <a:latin typeface="Arial" panose="020B0604020202020204" pitchFamily="34" charset="0"/>
              </a:rPr>
              <a:t> within Feminine and Masculine to identify high-growth niches.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1DE10-57A0-F1ED-3F3B-7DDE91B250E3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8C6832-BC33-18E0-85C7-96362742AA8B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649402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B1A59-7CB3-A1ED-9B9E-E2EAF02FD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4795B634-1700-6EC4-197E-23D57A4C3C09}"/>
              </a:ext>
            </a:extLst>
          </p:cNvPr>
          <p:cNvSpPr txBox="1">
            <a:spLocks/>
          </p:cNvSpPr>
          <p:nvPr/>
        </p:nvSpPr>
        <p:spPr>
          <a:xfrm>
            <a:off x="1523992" y="884168"/>
            <a:ext cx="9144000" cy="622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Compare total sales volume and average basket value across payment methods.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C7523E91-8AA2-7AC6-1CC0-5803D1F25504}"/>
              </a:ext>
            </a:extLst>
          </p:cNvPr>
          <p:cNvSpPr txBox="1">
            <a:spLocks/>
          </p:cNvSpPr>
          <p:nvPr/>
        </p:nvSpPr>
        <p:spPr>
          <a:xfrm>
            <a:off x="1941673" y="2792"/>
            <a:ext cx="7796980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400" b="1" dirty="0">
                <a:latin typeface="+mj-lt"/>
              </a:rPr>
              <a:t>4. Payment Method Performance</a:t>
            </a:r>
            <a:endParaRPr lang="en-US" sz="4400" dirty="0">
              <a:latin typeface="+mj-lt"/>
            </a:endParaRPr>
          </a:p>
        </p:txBody>
      </p:sp>
      <p:sp>
        <p:nvSpPr>
          <p:cNvPr id="7" name="Google Shape;534;p55">
            <a:extLst>
              <a:ext uri="{FF2B5EF4-FFF2-40B4-BE49-F238E27FC236}">
                <a16:creationId xmlns:a16="http://schemas.microsoft.com/office/drawing/2014/main" id="{14A8AE06-8077-EDE9-64F5-604C25E41A01}"/>
              </a:ext>
            </a:extLst>
          </p:cNvPr>
          <p:cNvSpPr/>
          <p:nvPr/>
        </p:nvSpPr>
        <p:spPr>
          <a:xfrm>
            <a:off x="2704224" y="4795764"/>
            <a:ext cx="6783538" cy="148467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0D63C9-91C4-953F-44F8-B8C4F0659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27" y="1971836"/>
            <a:ext cx="8983329" cy="233395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DE1412-7441-130A-A9F4-F24734BEF2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189316"/>
              </p:ext>
            </p:extLst>
          </p:nvPr>
        </p:nvGraphicFramePr>
        <p:xfrm>
          <a:off x="2837879" y="4913575"/>
          <a:ext cx="6516227" cy="1249047"/>
        </p:xfrm>
        <a:graphic>
          <a:graphicData uri="http://schemas.openxmlformats.org/drawingml/2006/table">
            <a:tbl>
              <a:tblPr/>
              <a:tblGrid>
                <a:gridCol w="1569063">
                  <a:extLst>
                    <a:ext uri="{9D8B030D-6E8A-4147-A177-3AD203B41FA5}">
                      <a16:colId xmlns:a16="http://schemas.microsoft.com/office/drawing/2014/main" val="3879106672"/>
                    </a:ext>
                  </a:extLst>
                </a:gridCol>
                <a:gridCol w="1772118">
                  <a:extLst>
                    <a:ext uri="{9D8B030D-6E8A-4147-A177-3AD203B41FA5}">
                      <a16:colId xmlns:a16="http://schemas.microsoft.com/office/drawing/2014/main" val="2515452067"/>
                    </a:ext>
                  </a:extLst>
                </a:gridCol>
                <a:gridCol w="1587523">
                  <a:extLst>
                    <a:ext uri="{9D8B030D-6E8A-4147-A177-3AD203B41FA5}">
                      <a16:colId xmlns:a16="http://schemas.microsoft.com/office/drawing/2014/main" val="2879718667"/>
                    </a:ext>
                  </a:extLst>
                </a:gridCol>
                <a:gridCol w="1587523">
                  <a:extLst>
                    <a:ext uri="{9D8B030D-6E8A-4147-A177-3AD203B41FA5}">
                      <a16:colId xmlns:a16="http://schemas.microsoft.com/office/drawing/2014/main" val="1027064993"/>
                    </a:ext>
                  </a:extLst>
                </a:gridCol>
              </a:tblGrid>
              <a:tr h="4163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Payment_Method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Total_Sales_Volume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Total_Sales_Value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Avg_Basket_Value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992742"/>
                  </a:ext>
                </a:extLst>
              </a:tr>
              <a:tr h="4163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Credit Card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3633549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621514010.4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171.05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186469"/>
                  </a:ext>
                </a:extLst>
              </a:tr>
              <a:tr h="41634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Cash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906855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154546512.2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170.42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4024220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C8B6F81C-F52F-C753-967F-F2277C0B4FD2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0A0B2467-E8DD-04F0-0FB7-BB2E2008E063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489273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1DBB5-E0BB-6518-020A-FF5102C15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771C6864-3A99-2C1A-C834-1289C50EBFAE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5DA33F10-17B7-D4D2-A1DD-1788C47637A1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FD928F56-1644-A71D-AE8A-DCF8B312080B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34219AAD-2A6D-2B36-5885-EF5ADCEA1D7B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CE9D994-5501-ECA5-21D3-7BF9A40A0366}"/>
              </a:ext>
            </a:extLst>
          </p:cNvPr>
          <p:cNvSpPr txBox="1"/>
          <p:nvPr/>
        </p:nvSpPr>
        <p:spPr>
          <a:xfrm>
            <a:off x="672184" y="1157546"/>
            <a:ext cx="506364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Credit Card Dominates:</a:t>
            </a:r>
            <a:br>
              <a:rPr lang="en-US" altLang="en-US" sz="1600" dirty="0"/>
            </a:br>
            <a:r>
              <a:rPr lang="en-US" altLang="en-US" sz="1600" dirty="0"/>
              <a:t>Credit Card transactions account for the highest sales volume (3.63M), significantly outperforming Cash payments (0.91M).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Higher Sales Value:</a:t>
            </a:r>
            <a:br>
              <a:rPr lang="en-US" altLang="en-US" sz="1600" dirty="0"/>
            </a:br>
            <a:r>
              <a:rPr lang="en-US" altLang="en-US" sz="1600" dirty="0"/>
              <a:t>Credit Card payments also generate the highest total sales value (₹621.5M), contributing the majority of overall revenue.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Similar Basket Values:</a:t>
            </a:r>
            <a:br>
              <a:rPr lang="en-US" altLang="en-US" sz="1600" dirty="0"/>
            </a:br>
            <a:r>
              <a:rPr lang="en-US" altLang="en-US" sz="1600" dirty="0"/>
              <a:t>Average basket value is almost the same for both methods (₹171 for Credit Card vs ₹170 for Cash), indicating consistent purchase behavior across methods.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Customer Preference:</a:t>
            </a:r>
            <a:br>
              <a:rPr lang="en-US" altLang="en-US" sz="1600" dirty="0"/>
            </a:br>
            <a:r>
              <a:rPr lang="en-US" altLang="en-US" sz="1600" dirty="0"/>
              <a:t>High usage of Credit Cards suggests customer preference for digital and convenient payments over cash.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9CDBF1-E3D2-B2E9-02FC-8A4311895CE4}"/>
              </a:ext>
            </a:extLst>
          </p:cNvPr>
          <p:cNvSpPr txBox="1"/>
          <p:nvPr/>
        </p:nvSpPr>
        <p:spPr>
          <a:xfrm>
            <a:off x="6424063" y="1157546"/>
            <a:ext cx="506364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Promote Digital Payments:</a:t>
            </a:r>
            <a:br>
              <a:rPr lang="en-US" altLang="en-US" sz="1600" dirty="0"/>
            </a:br>
            <a:r>
              <a:rPr lang="en-US" altLang="en-US" sz="1600" dirty="0"/>
              <a:t>Encourage credit/debit card and online payment options through cashback or loyalty points to maintain digital dominance.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Incentivize Cash Users:</a:t>
            </a:r>
            <a:br>
              <a:rPr lang="en-US" altLang="en-US" sz="1600" dirty="0"/>
            </a:br>
            <a:r>
              <a:rPr lang="en-US" altLang="en-US" sz="1600" dirty="0"/>
              <a:t>Offer small discounts or reward points to shift cash users toward digital modes, improving transaction efficiency.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Monitor Transaction Fees:</a:t>
            </a:r>
            <a:br>
              <a:rPr lang="en-US" altLang="en-US" sz="1600" dirty="0"/>
            </a:br>
            <a:r>
              <a:rPr lang="en-US" altLang="en-US" sz="1600" dirty="0"/>
              <a:t>Evaluate payment gateway charges for card transactions to ensure profitability is not affected.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Expand Payment Variety:</a:t>
            </a:r>
            <a:br>
              <a:rPr lang="en-US" altLang="en-US" sz="1600" dirty="0"/>
            </a:br>
            <a:r>
              <a:rPr lang="en-US" altLang="en-US" sz="1600" dirty="0"/>
              <a:t>Introduce UPI or wallet-based options to further increase convenience and capture a broader audience.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A51C7-E343-0A4B-5244-06475228F64D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F2CDC4-09DF-D2AB-1ACA-E722A521E5FA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61638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E09ED-844D-2612-C4D0-03FD1B7F5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17C3058A-07E4-1854-6768-B003CCB29D18}"/>
              </a:ext>
            </a:extLst>
          </p:cNvPr>
          <p:cNvSpPr txBox="1">
            <a:spLocks/>
          </p:cNvSpPr>
          <p:nvPr/>
        </p:nvSpPr>
        <p:spPr>
          <a:xfrm>
            <a:off x="1288012" y="1044185"/>
            <a:ext cx="9615954" cy="622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Compare sales volume and revenue during discount periods versus non-discount periods.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C9A70B3B-A8D9-6635-45F7-E825486E5430}"/>
              </a:ext>
            </a:extLst>
          </p:cNvPr>
          <p:cNvSpPr txBox="1">
            <a:spLocks/>
          </p:cNvSpPr>
          <p:nvPr/>
        </p:nvSpPr>
        <p:spPr>
          <a:xfrm>
            <a:off x="2543898" y="-4051"/>
            <a:ext cx="6592529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400" b="1" dirty="0">
                <a:latin typeface="+mj-lt"/>
              </a:rPr>
              <a:t>5. Promotion Impact Analysis</a:t>
            </a:r>
            <a:endParaRPr lang="en-US" sz="44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6A8C9E-A555-8AEC-4DA7-A4BE2B4A2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83" y="2300431"/>
            <a:ext cx="9050013" cy="153373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63C0B66-AFFE-2EB3-05CD-A18BB86E3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553406"/>
              </p:ext>
            </p:extLst>
          </p:nvPr>
        </p:nvGraphicFramePr>
        <p:xfrm>
          <a:off x="2812377" y="4690482"/>
          <a:ext cx="6567229" cy="812022"/>
        </p:xfrm>
        <a:graphic>
          <a:graphicData uri="http://schemas.openxmlformats.org/drawingml/2006/table">
            <a:tbl>
              <a:tblPr/>
              <a:tblGrid>
                <a:gridCol w="1720672">
                  <a:extLst>
                    <a:ext uri="{9D8B030D-6E8A-4147-A177-3AD203B41FA5}">
                      <a16:colId xmlns:a16="http://schemas.microsoft.com/office/drawing/2014/main" val="190231716"/>
                    </a:ext>
                  </a:extLst>
                </a:gridCol>
                <a:gridCol w="1448232">
                  <a:extLst>
                    <a:ext uri="{9D8B030D-6E8A-4147-A177-3AD203B41FA5}">
                      <a16:colId xmlns:a16="http://schemas.microsoft.com/office/drawing/2014/main" val="673826632"/>
                    </a:ext>
                  </a:extLst>
                </a:gridCol>
                <a:gridCol w="1835383">
                  <a:extLst>
                    <a:ext uri="{9D8B030D-6E8A-4147-A177-3AD203B41FA5}">
                      <a16:colId xmlns:a16="http://schemas.microsoft.com/office/drawing/2014/main" val="211015934"/>
                    </a:ext>
                  </a:extLst>
                </a:gridCol>
                <a:gridCol w="1562942">
                  <a:extLst>
                    <a:ext uri="{9D8B030D-6E8A-4147-A177-3AD203B41FA5}">
                      <a16:colId xmlns:a16="http://schemas.microsoft.com/office/drawing/2014/main" val="3621395027"/>
                    </a:ext>
                  </a:extLst>
                </a:gridCol>
              </a:tblGrid>
              <a:tr h="38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115678"/>
                  </a:ext>
                </a:extLst>
              </a:tr>
              <a:tr h="4288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4288334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588589044.6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1788866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144155830.46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725218"/>
                  </a:ext>
                </a:extLst>
              </a:tr>
            </a:tbl>
          </a:graphicData>
        </a:graphic>
      </p:graphicFrame>
      <p:sp>
        <p:nvSpPr>
          <p:cNvPr id="21" name="Google Shape;534;p55">
            <a:extLst>
              <a:ext uri="{FF2B5EF4-FFF2-40B4-BE49-F238E27FC236}">
                <a16:creationId xmlns:a16="http://schemas.microsoft.com/office/drawing/2014/main" id="{BC418D99-DCF8-8036-301C-B74695883A1C}"/>
              </a:ext>
            </a:extLst>
          </p:cNvPr>
          <p:cNvSpPr/>
          <p:nvPr/>
        </p:nvSpPr>
        <p:spPr>
          <a:xfrm>
            <a:off x="2704221" y="4540970"/>
            <a:ext cx="6783538" cy="1111046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DC8589F-192D-4A02-C354-93693069C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653755"/>
              </p:ext>
            </p:extLst>
          </p:nvPr>
        </p:nvGraphicFramePr>
        <p:xfrm>
          <a:off x="2802552" y="4690482"/>
          <a:ext cx="6567228" cy="812023"/>
        </p:xfrm>
        <a:graphic>
          <a:graphicData uri="http://schemas.openxmlformats.org/drawingml/2006/table">
            <a:tbl>
              <a:tblPr/>
              <a:tblGrid>
                <a:gridCol w="1720671">
                  <a:extLst>
                    <a:ext uri="{9D8B030D-6E8A-4147-A177-3AD203B41FA5}">
                      <a16:colId xmlns:a16="http://schemas.microsoft.com/office/drawing/2014/main" val="1744418915"/>
                    </a:ext>
                  </a:extLst>
                </a:gridCol>
                <a:gridCol w="1448232">
                  <a:extLst>
                    <a:ext uri="{9D8B030D-6E8A-4147-A177-3AD203B41FA5}">
                      <a16:colId xmlns:a16="http://schemas.microsoft.com/office/drawing/2014/main" val="4034865341"/>
                    </a:ext>
                  </a:extLst>
                </a:gridCol>
                <a:gridCol w="1835382">
                  <a:extLst>
                    <a:ext uri="{9D8B030D-6E8A-4147-A177-3AD203B41FA5}">
                      <a16:colId xmlns:a16="http://schemas.microsoft.com/office/drawing/2014/main" val="1431990261"/>
                    </a:ext>
                  </a:extLst>
                </a:gridCol>
                <a:gridCol w="1562943">
                  <a:extLst>
                    <a:ext uri="{9D8B030D-6E8A-4147-A177-3AD203B41FA5}">
                      <a16:colId xmlns:a16="http://schemas.microsoft.com/office/drawing/2014/main" val="786787093"/>
                    </a:ext>
                  </a:extLst>
                </a:gridCol>
              </a:tblGrid>
              <a:tr h="4724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498879"/>
                  </a:ext>
                </a:extLst>
              </a:tr>
              <a:tr h="33959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4288334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588589044.6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1788866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144155830.46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029219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824ED8D4-5553-52CA-F4CA-D8EB2E6C7741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6A2D1C2B-031B-A44F-E9F3-7FFAA90DC994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686739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7B5F-7A07-6958-B9C8-576B2B11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5C2FCF1C-50EE-FC5A-7673-E2440B2E4D7C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7FFDCAEF-BC00-92C5-45B0-8BABF6E057B3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9150C00B-4BD5-D1AD-38A1-FD3045365FE9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E5222DC4-9D1C-515C-5335-0D1D643D833F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1D99817-8D41-688B-DD19-4DCAA84932EB}"/>
              </a:ext>
            </a:extLst>
          </p:cNvPr>
          <p:cNvSpPr txBox="1"/>
          <p:nvPr/>
        </p:nvSpPr>
        <p:spPr>
          <a:xfrm>
            <a:off x="672184" y="1157546"/>
            <a:ext cx="506364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Periodic Promotions: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Discounts were active intermittently across the full sales duration (2023–2025), not continuously.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Uneven Sales Rows: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1,788,866 </a:t>
            </a:r>
            <a:r>
              <a:rPr lang="en-US" altLang="en-US" sz="1600" b="1" dirty="0"/>
              <a:t>discounted sales rows (29%)</a:t>
            </a:r>
            <a:r>
              <a:rPr lang="en-US" altLang="en-US" sz="1600" dirty="0"/>
              <a:t> vs. 4,288,334 </a:t>
            </a:r>
            <a:r>
              <a:rPr lang="en-US" altLang="en-US" sz="1600" b="1" dirty="0"/>
              <a:t>non-discounted sales rows (71%)</a:t>
            </a:r>
            <a:r>
              <a:rPr lang="en-US" altLang="en-US" sz="1600" dirty="0"/>
              <a:t> — indicating limited discount coverage.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Lower Sales &amp; Revenue: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Discount periods contributed less to overall sales volume and revenue, mainly due to fewer active promotional days.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Selective Campaigns: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The smaller discount share suggests targeted or short-term promotions rather than ongoing discounts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2C220-1796-0B19-701D-012BF0E95A4F}"/>
              </a:ext>
            </a:extLst>
          </p:cNvPr>
          <p:cNvSpPr txBox="1"/>
          <p:nvPr/>
        </p:nvSpPr>
        <p:spPr>
          <a:xfrm>
            <a:off x="6424063" y="1157546"/>
            <a:ext cx="50636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Optimize Promotion Timing: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Extend or align discounts with high-demand periods to lift sales contribution.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Analyze Per-Transaction Metrics: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Compare average revenue per sale to assess real promotional effectiveness.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Target Smartly: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Focus discounts on high-potential products or customer groups to maximize ROI.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Monitor &amp; Refine: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Continuously track sales and revenue trends during promotions to fine-tune strategy.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8CF906-9958-1667-57F5-D58770340185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D3296-091A-EF9E-C94B-27A2423BE70E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285379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8E6DD-D844-9991-BDFE-57B1C4F6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476961C5-961C-FD34-4B04-943CE32230C3}"/>
              </a:ext>
            </a:extLst>
          </p:cNvPr>
          <p:cNvSpPr txBox="1">
            <a:spLocks/>
          </p:cNvSpPr>
          <p:nvPr/>
        </p:nvSpPr>
        <p:spPr>
          <a:xfrm>
            <a:off x="643999" y="1046179"/>
            <a:ext cx="10903984" cy="4293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Measure the proportion of new versus repeat customers each month along with their average spend.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87CE1895-A200-71FE-86C1-7A0935D9037D}"/>
              </a:ext>
            </a:extLst>
          </p:cNvPr>
          <p:cNvSpPr txBox="1">
            <a:spLocks/>
          </p:cNvSpPr>
          <p:nvPr/>
        </p:nvSpPr>
        <p:spPr>
          <a:xfrm>
            <a:off x="2474596" y="0"/>
            <a:ext cx="6592529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400" b="1" dirty="0">
                <a:latin typeface="+mj-lt"/>
              </a:rPr>
              <a:t>6. Customer Loyalty Tracking</a:t>
            </a:r>
            <a:endParaRPr lang="en-US" sz="4400" dirty="0">
              <a:latin typeface="+mj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592F707-ACA8-92FE-0BDA-A0E976553649}"/>
              </a:ext>
            </a:extLst>
          </p:cNvPr>
          <p:cNvGraphicFramePr>
            <a:graphicFrameLocks noGrp="1"/>
          </p:cNvGraphicFramePr>
          <p:nvPr/>
        </p:nvGraphicFramePr>
        <p:xfrm>
          <a:off x="2812377" y="4690482"/>
          <a:ext cx="6567229" cy="812022"/>
        </p:xfrm>
        <a:graphic>
          <a:graphicData uri="http://schemas.openxmlformats.org/drawingml/2006/table">
            <a:tbl>
              <a:tblPr/>
              <a:tblGrid>
                <a:gridCol w="1720672">
                  <a:extLst>
                    <a:ext uri="{9D8B030D-6E8A-4147-A177-3AD203B41FA5}">
                      <a16:colId xmlns:a16="http://schemas.microsoft.com/office/drawing/2014/main" val="190231716"/>
                    </a:ext>
                  </a:extLst>
                </a:gridCol>
                <a:gridCol w="1448232">
                  <a:extLst>
                    <a:ext uri="{9D8B030D-6E8A-4147-A177-3AD203B41FA5}">
                      <a16:colId xmlns:a16="http://schemas.microsoft.com/office/drawing/2014/main" val="673826632"/>
                    </a:ext>
                  </a:extLst>
                </a:gridCol>
                <a:gridCol w="1835383">
                  <a:extLst>
                    <a:ext uri="{9D8B030D-6E8A-4147-A177-3AD203B41FA5}">
                      <a16:colId xmlns:a16="http://schemas.microsoft.com/office/drawing/2014/main" val="211015934"/>
                    </a:ext>
                  </a:extLst>
                </a:gridCol>
                <a:gridCol w="1562942">
                  <a:extLst>
                    <a:ext uri="{9D8B030D-6E8A-4147-A177-3AD203B41FA5}">
                      <a16:colId xmlns:a16="http://schemas.microsoft.com/office/drawing/2014/main" val="3621395027"/>
                    </a:ext>
                  </a:extLst>
                </a:gridCol>
              </a:tblGrid>
              <a:tr h="38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115678"/>
                  </a:ext>
                </a:extLst>
              </a:tr>
              <a:tr h="4288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4288334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588589044.6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1788866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144155830.46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725218"/>
                  </a:ext>
                </a:extLst>
              </a:tr>
            </a:tbl>
          </a:graphicData>
        </a:graphic>
      </p:graphicFrame>
      <p:sp>
        <p:nvSpPr>
          <p:cNvPr id="21" name="Google Shape;534;p55">
            <a:extLst>
              <a:ext uri="{FF2B5EF4-FFF2-40B4-BE49-F238E27FC236}">
                <a16:creationId xmlns:a16="http://schemas.microsoft.com/office/drawing/2014/main" id="{00E22179-7507-F51F-F91C-418059778B59}"/>
              </a:ext>
            </a:extLst>
          </p:cNvPr>
          <p:cNvSpPr/>
          <p:nvPr/>
        </p:nvSpPr>
        <p:spPr>
          <a:xfrm>
            <a:off x="2704222" y="4609356"/>
            <a:ext cx="6783538" cy="1786295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D47DF0-EFAB-71B8-97AC-CEDE21112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09" y="1889769"/>
            <a:ext cx="11926964" cy="230537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05A2DF-3F0A-5F00-FF8B-F6BD832F2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776205"/>
              </p:ext>
            </p:extLst>
          </p:nvPr>
        </p:nvGraphicFramePr>
        <p:xfrm>
          <a:off x="2812378" y="4701174"/>
          <a:ext cx="6567228" cy="1602657"/>
        </p:xfrm>
        <a:graphic>
          <a:graphicData uri="http://schemas.openxmlformats.org/drawingml/2006/table">
            <a:tbl>
              <a:tblPr/>
              <a:tblGrid>
                <a:gridCol w="731674">
                  <a:extLst>
                    <a:ext uri="{9D8B030D-6E8A-4147-A177-3AD203B41FA5}">
                      <a16:colId xmlns:a16="http://schemas.microsoft.com/office/drawing/2014/main" val="573306051"/>
                    </a:ext>
                  </a:extLst>
                </a:gridCol>
                <a:gridCol w="1320584">
                  <a:extLst>
                    <a:ext uri="{9D8B030D-6E8A-4147-A177-3AD203B41FA5}">
                      <a16:colId xmlns:a16="http://schemas.microsoft.com/office/drawing/2014/main" val="509967137"/>
                    </a:ext>
                  </a:extLst>
                </a:gridCol>
                <a:gridCol w="1499042">
                  <a:extLst>
                    <a:ext uri="{9D8B030D-6E8A-4147-A177-3AD203B41FA5}">
                      <a16:colId xmlns:a16="http://schemas.microsoft.com/office/drawing/2014/main" val="3470977949"/>
                    </a:ext>
                  </a:extLst>
                </a:gridCol>
                <a:gridCol w="1409812">
                  <a:extLst>
                    <a:ext uri="{9D8B030D-6E8A-4147-A177-3AD203B41FA5}">
                      <a16:colId xmlns:a16="http://schemas.microsoft.com/office/drawing/2014/main" val="3493983972"/>
                    </a:ext>
                  </a:extLst>
                </a:gridCol>
                <a:gridCol w="1606116">
                  <a:extLst>
                    <a:ext uri="{9D8B030D-6E8A-4147-A177-3AD203B41FA5}">
                      <a16:colId xmlns:a16="http://schemas.microsoft.com/office/drawing/2014/main" val="1556350064"/>
                    </a:ext>
                  </a:extLst>
                </a:gridCol>
              </a:tblGrid>
              <a:tr h="228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New_Customer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Repeat_customer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New_Avg_Spend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Repeat_Avg_Spend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2351"/>
                  </a:ext>
                </a:extLst>
              </a:tr>
              <a:tr h="228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2023-01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110456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125.86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NULL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32599"/>
                  </a:ext>
                </a:extLst>
              </a:tr>
              <a:tr h="228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2023-02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68575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9485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148.02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125.83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854848"/>
                  </a:ext>
                </a:extLst>
              </a:tr>
              <a:tr h="228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2023-03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134769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29144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183.79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187.91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105755"/>
                  </a:ext>
                </a:extLst>
              </a:tr>
              <a:tr h="228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2023-04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83311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36317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195.1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197.03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633850"/>
                  </a:ext>
                </a:extLst>
              </a:tr>
              <a:tr h="228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2023-05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85055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50180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175.88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181.75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039951"/>
                  </a:ext>
                </a:extLst>
              </a:tr>
              <a:tr h="2289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2023-06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47897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38465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211.94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216.2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730279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FD490BAA-0D35-C284-39C8-D7695E4398B7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73FE34C0-7207-A854-C140-07080334874F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715253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2EBE2-E30D-55AA-FFCD-A551F195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42288458-91B0-8892-801B-8DF11111D49C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E127AB53-C077-369B-9B1F-B182CE072D56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D1B08911-C608-7EC8-2B51-DCCA0150B870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5BD52709-9CCB-ED88-EED6-4A74F541C26F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8793A17-D03B-EC88-901F-9401E30D00D8}"/>
              </a:ext>
            </a:extLst>
          </p:cNvPr>
          <p:cNvSpPr txBox="1"/>
          <p:nvPr/>
        </p:nvSpPr>
        <p:spPr>
          <a:xfrm>
            <a:off x="672184" y="1157546"/>
            <a:ext cx="506364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Strong New Customer Acquisition (Early Months):</a:t>
            </a:r>
            <a:br>
              <a:rPr lang="en-US" altLang="en-US" sz="1600" dirty="0"/>
            </a:br>
            <a:r>
              <a:rPr lang="en-US" altLang="en-US" sz="1600" dirty="0"/>
              <a:t>January saw the highest influx of new customers (110K+), indicating strong initial marketing or launch impact.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Growing Repeat Customer Base:</a:t>
            </a:r>
            <a:br>
              <a:rPr lang="en-US" altLang="en-US" sz="1600" dirty="0"/>
            </a:br>
            <a:r>
              <a:rPr lang="en-US" altLang="en-US" sz="1600" dirty="0"/>
              <a:t>Repeat customers increased steadily from February (9K) to May (50K+), showing improving retention month-over-month.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Spending Trend – Repeat Customers Lead:</a:t>
            </a:r>
            <a:br>
              <a:rPr lang="en-US" altLang="en-US" sz="1600" dirty="0"/>
            </a:br>
            <a:r>
              <a:rPr lang="en-US" altLang="en-US" sz="1600" dirty="0"/>
              <a:t>From March onward, repeat customers consistently spent slightly more per transaction (≈$188–$197) than new ones, suggesting loyalty value.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Declining New Customer Spend:</a:t>
            </a:r>
            <a:br>
              <a:rPr lang="en-US" altLang="en-US" sz="1600" dirty="0"/>
            </a:br>
            <a:r>
              <a:rPr lang="en-US" altLang="en-US" sz="1600" dirty="0"/>
              <a:t>After peaking in April (~$195), average spend of new customers dipped in May (~$176), hinting at either smaller purchase sizes or promotional discounts.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06347-4B16-FEC3-99AC-E1E2DBF4DB98}"/>
              </a:ext>
            </a:extLst>
          </p:cNvPr>
          <p:cNvSpPr txBox="1"/>
          <p:nvPr/>
        </p:nvSpPr>
        <p:spPr>
          <a:xfrm>
            <a:off x="6424063" y="1157546"/>
            <a:ext cx="506364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Enhance Retention Campaigns:</a:t>
            </a:r>
            <a:br>
              <a:rPr lang="en-US" altLang="en-US" sz="1600" dirty="0"/>
            </a:br>
            <a:r>
              <a:rPr lang="en-US" altLang="en-US" sz="1600" dirty="0"/>
              <a:t>Leverage loyalty programs, email reminders, and personalized offers to further increase repeat purchases.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Boost New Customer Conversion:</a:t>
            </a:r>
            <a:br>
              <a:rPr lang="en-US" altLang="en-US" sz="1600" dirty="0"/>
            </a:br>
            <a:r>
              <a:rPr lang="en-US" altLang="en-US" sz="1600" dirty="0"/>
              <a:t>Optimize onboarding and post-purchase engagement to encourage repeat behavior from new buyers.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Analyze Spend Drivers:</a:t>
            </a:r>
            <a:br>
              <a:rPr lang="en-US" altLang="en-US" sz="1600" dirty="0"/>
            </a:br>
            <a:r>
              <a:rPr lang="en-US" altLang="en-US" sz="1600" dirty="0"/>
              <a:t>Investigate factors behind lower new customer spend—review product mix, pricing, and promotion structure.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Reward High-Value Repeat Customers:</a:t>
            </a:r>
            <a:br>
              <a:rPr lang="en-US" altLang="en-US" sz="1600" dirty="0"/>
            </a:br>
            <a:r>
              <a:rPr lang="en-US" altLang="en-US" sz="1600" dirty="0"/>
              <a:t>Identify top repeat spenders and offer exclusive benefits to reinforce brand loyalty and advocacy.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68346A-BBB0-C550-546E-FA5488FE7774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48CDE-31BB-FEDF-121C-2DD9F1588E8D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728737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C5D2-705C-5DCE-5E82-3FC030B8B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ADD937E2-23A1-B927-F9A6-844C60A20FB7}"/>
              </a:ext>
            </a:extLst>
          </p:cNvPr>
          <p:cNvSpPr txBox="1">
            <a:spLocks/>
          </p:cNvSpPr>
          <p:nvPr/>
        </p:nvSpPr>
        <p:spPr>
          <a:xfrm>
            <a:off x="2625196" y="947472"/>
            <a:ext cx="6941584" cy="622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Identify the top and bottom stores by revenue and return rates.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ED820688-A764-5727-B7BC-ECDA518B0EB4}"/>
              </a:ext>
            </a:extLst>
          </p:cNvPr>
          <p:cNvSpPr txBox="1">
            <a:spLocks/>
          </p:cNvSpPr>
          <p:nvPr/>
        </p:nvSpPr>
        <p:spPr>
          <a:xfrm>
            <a:off x="2397068" y="0"/>
            <a:ext cx="6747586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400" b="1" dirty="0">
                <a:latin typeface="+mj-lt"/>
              </a:rPr>
              <a:t>7. Store Performance Ranking</a:t>
            </a:r>
            <a:endParaRPr lang="en-US" sz="4400" dirty="0">
              <a:latin typeface="+mj-lt"/>
            </a:endParaRPr>
          </a:p>
        </p:txBody>
      </p:sp>
      <p:sp>
        <p:nvSpPr>
          <p:cNvPr id="21" name="Google Shape;534;p55">
            <a:extLst>
              <a:ext uri="{FF2B5EF4-FFF2-40B4-BE49-F238E27FC236}">
                <a16:creationId xmlns:a16="http://schemas.microsoft.com/office/drawing/2014/main" id="{F2B6C61B-AED5-D282-98B4-7B8F77A4DFBA}"/>
              </a:ext>
            </a:extLst>
          </p:cNvPr>
          <p:cNvSpPr/>
          <p:nvPr/>
        </p:nvSpPr>
        <p:spPr>
          <a:xfrm>
            <a:off x="2704218" y="4528965"/>
            <a:ext cx="6783538" cy="1786295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01A3A-2574-CA1C-8D9A-C01990C1E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96" y="1864879"/>
            <a:ext cx="10269383" cy="230537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DCF29A-B44C-1477-ADC8-77A378EBD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127537"/>
              </p:ext>
            </p:extLst>
          </p:nvPr>
        </p:nvGraphicFramePr>
        <p:xfrm>
          <a:off x="2881349" y="4657808"/>
          <a:ext cx="6429275" cy="1528608"/>
        </p:xfrm>
        <a:graphic>
          <a:graphicData uri="http://schemas.openxmlformats.org/drawingml/2006/table">
            <a:tbl>
              <a:tblPr/>
              <a:tblGrid>
                <a:gridCol w="1285855">
                  <a:extLst>
                    <a:ext uri="{9D8B030D-6E8A-4147-A177-3AD203B41FA5}">
                      <a16:colId xmlns:a16="http://schemas.microsoft.com/office/drawing/2014/main" val="1059889038"/>
                    </a:ext>
                  </a:extLst>
                </a:gridCol>
                <a:gridCol w="1285855">
                  <a:extLst>
                    <a:ext uri="{9D8B030D-6E8A-4147-A177-3AD203B41FA5}">
                      <a16:colId xmlns:a16="http://schemas.microsoft.com/office/drawing/2014/main" val="4260310713"/>
                    </a:ext>
                  </a:extLst>
                </a:gridCol>
                <a:gridCol w="1285855">
                  <a:extLst>
                    <a:ext uri="{9D8B030D-6E8A-4147-A177-3AD203B41FA5}">
                      <a16:colId xmlns:a16="http://schemas.microsoft.com/office/drawing/2014/main" val="499015485"/>
                    </a:ext>
                  </a:extLst>
                </a:gridCol>
                <a:gridCol w="1285855">
                  <a:extLst>
                    <a:ext uri="{9D8B030D-6E8A-4147-A177-3AD203B41FA5}">
                      <a16:colId xmlns:a16="http://schemas.microsoft.com/office/drawing/2014/main" val="2640239985"/>
                    </a:ext>
                  </a:extLst>
                </a:gridCol>
                <a:gridCol w="1285855">
                  <a:extLst>
                    <a:ext uri="{9D8B030D-6E8A-4147-A177-3AD203B41FA5}">
                      <a16:colId xmlns:a16="http://schemas.microsoft.com/office/drawing/2014/main" val="603331537"/>
                    </a:ext>
                  </a:extLst>
                </a:gridCol>
              </a:tblGrid>
              <a:tr h="2547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Store_ID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Total_Rev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Return_Rate_Pct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rev_rnk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return_rnk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159940"/>
                  </a:ext>
                </a:extLst>
              </a:tr>
              <a:tr h="2547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3916189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0.051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467760"/>
                  </a:ext>
                </a:extLst>
              </a:tr>
              <a:tr h="2547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4830092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0.051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065200"/>
                  </a:ext>
                </a:extLst>
              </a:tr>
              <a:tr h="2547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1.32E+08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0.052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833474"/>
                  </a:ext>
                </a:extLst>
              </a:tr>
              <a:tr h="2547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2270242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0.053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1218944"/>
                  </a:ext>
                </a:extLst>
              </a:tr>
              <a:tr h="2547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3448816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0.055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555854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75D507AB-89A2-9BC0-1471-ABFD38B6E1AD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B307F009-F271-4373-BF11-AFC8C0960E2D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528110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1113C-8F68-0CFB-C724-D23BB4BE5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8CC7D768-AD91-3DE6-DCB8-37057F181ED0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AEF057C8-3F60-C96D-5CF4-84B9E7399D56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8DD6DB48-85A9-1AB7-DFE6-B7958269E5A4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CACA8F3F-209F-8E09-7AB7-C17C8FC65C36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DBBF8D8-84DF-8542-8101-0640FCC61996}"/>
              </a:ext>
            </a:extLst>
          </p:cNvPr>
          <p:cNvSpPr txBox="1"/>
          <p:nvPr/>
        </p:nvSpPr>
        <p:spPr>
          <a:xfrm>
            <a:off x="672184" y="1157546"/>
            <a:ext cx="5063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Top revenue store: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Store </a:t>
            </a:r>
            <a:r>
              <a:rPr lang="en-US" altLang="en-US" sz="1600" b="1" dirty="0"/>
              <a:t>6</a:t>
            </a:r>
            <a:r>
              <a:rPr lang="en-US" altLang="en-US" sz="1600" dirty="0"/>
              <a:t> — ₹132,225,379.37 (</a:t>
            </a:r>
            <a:r>
              <a:rPr lang="en-US" altLang="en-US" sz="1600" b="1" dirty="0"/>
              <a:t>highest revenue</a:t>
            </a:r>
            <a:r>
              <a:rPr lang="en-US" altLang="en-US" sz="1600" dirty="0"/>
              <a:t>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Bottom revenue store: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Store </a:t>
            </a:r>
            <a:r>
              <a:rPr lang="en-US" altLang="en-US" sz="1600" b="1" dirty="0"/>
              <a:t>18</a:t>
            </a:r>
            <a:r>
              <a:rPr lang="en-US" altLang="en-US" sz="1600" dirty="0"/>
              <a:t> — ₹2,270,242.02 </a:t>
            </a:r>
            <a:r>
              <a:rPr lang="en-US" altLang="en-US" sz="1600" b="1" dirty="0"/>
              <a:t>(lowest revenue</a:t>
            </a:r>
            <a:r>
              <a:rPr lang="en-US" altLang="en-US" sz="1600" dirty="0"/>
              <a:t>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Best (lowest) return rate: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Store </a:t>
            </a:r>
            <a:r>
              <a:rPr lang="en-US" altLang="en-US" sz="1600" b="1" dirty="0"/>
              <a:t>35</a:t>
            </a:r>
            <a:r>
              <a:rPr lang="en-US" altLang="en-US" sz="1600" dirty="0"/>
              <a:t> — </a:t>
            </a:r>
            <a:r>
              <a:rPr lang="en-US" altLang="en-US" sz="1600" b="1" dirty="0"/>
              <a:t>5.1%</a:t>
            </a:r>
            <a:r>
              <a:rPr lang="en-US" altLang="en-US" sz="1600" dirty="0"/>
              <a:t> returned (tie with Store 23 at 5.1%).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Worst (highest) return rate: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Store </a:t>
            </a:r>
            <a:r>
              <a:rPr lang="en-US" altLang="en-US" sz="1600" b="1" dirty="0"/>
              <a:t>27</a:t>
            </a:r>
            <a:r>
              <a:rPr lang="en-US" altLang="en-US" sz="1600" dirty="0"/>
              <a:t> — </a:t>
            </a:r>
            <a:r>
              <a:rPr lang="en-US" altLang="en-US" sz="1600" b="1" dirty="0"/>
              <a:t>5.5%</a:t>
            </a:r>
            <a:r>
              <a:rPr lang="en-US" altLang="en-US" sz="1600" dirty="0"/>
              <a:t> returned.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DB16B-495A-A50A-366F-9109CCFE70EB}"/>
              </a:ext>
            </a:extLst>
          </p:cNvPr>
          <p:cNvSpPr txBox="1"/>
          <p:nvPr/>
        </p:nvSpPr>
        <p:spPr>
          <a:xfrm>
            <a:off x="6424063" y="1157546"/>
            <a:ext cx="506364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Scale what’s working at Store 6: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Audit Store 6’s product mix, promotions, staffing, and footfall tactics; pilot those practices in similar-performing locations to increase revenue elsewhere.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Revive low-revenue stores (e.g., Store 18):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Run local promos, optimize assortment for local demand, and invest in staff training and visual merchandising.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Reward and replicate low-return practices: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Study Stores 35 &amp; 23 (5.1% returns) for customer service, quality control, and packaging practices — replicate across stores.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Fix high-return stores (Store 27):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Investigate causes (product quality, incorrect items, fulfillment errors, misleading descriptions). Prioritize root-cause fixes — product checks, clearer product info, or targeted staff retraining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F8FE0-C7C9-E84B-3D37-467640FD9677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78C53-70C6-5578-CB21-5D23C02211F5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464274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15D0D-8D28-982B-147F-EC8069B0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DAB85A64-5917-18AF-B9A1-2E12E6B083B2}"/>
              </a:ext>
            </a:extLst>
          </p:cNvPr>
          <p:cNvSpPr txBox="1">
            <a:spLocks/>
          </p:cNvSpPr>
          <p:nvPr/>
        </p:nvSpPr>
        <p:spPr>
          <a:xfrm>
            <a:off x="961297" y="845065"/>
            <a:ext cx="10269382" cy="622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Segment products into price bands and analyze their contribution to total revenue and returns.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75B033E7-E2F8-98DD-8C19-C04986A492E6}"/>
              </a:ext>
            </a:extLst>
          </p:cNvPr>
          <p:cNvSpPr txBox="1">
            <a:spLocks/>
          </p:cNvSpPr>
          <p:nvPr/>
        </p:nvSpPr>
        <p:spPr>
          <a:xfrm>
            <a:off x="3101065" y="-4573"/>
            <a:ext cx="5989848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400" b="1" dirty="0">
                <a:latin typeface="+mj-lt"/>
              </a:rPr>
              <a:t>8. Price Band Contribution</a:t>
            </a:r>
            <a:endParaRPr lang="en-US" sz="4400" dirty="0">
              <a:latin typeface="+mj-lt"/>
            </a:endParaRPr>
          </a:p>
        </p:txBody>
      </p:sp>
      <p:sp>
        <p:nvSpPr>
          <p:cNvPr id="21" name="Google Shape;534;p55">
            <a:extLst>
              <a:ext uri="{FF2B5EF4-FFF2-40B4-BE49-F238E27FC236}">
                <a16:creationId xmlns:a16="http://schemas.microsoft.com/office/drawing/2014/main" id="{9C98C08B-5578-670D-5473-B39902B0792E}"/>
              </a:ext>
            </a:extLst>
          </p:cNvPr>
          <p:cNvSpPr/>
          <p:nvPr/>
        </p:nvSpPr>
        <p:spPr>
          <a:xfrm>
            <a:off x="3731515" y="4937266"/>
            <a:ext cx="4728945" cy="1544869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9348FA-3AE5-A9C5-5017-965FD5F7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" y="1562460"/>
            <a:ext cx="11995355" cy="308653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D47A5E-3C5E-B0C8-FD53-F20087F0E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415597"/>
              </p:ext>
            </p:extLst>
          </p:nvPr>
        </p:nvGraphicFramePr>
        <p:xfrm>
          <a:off x="3871131" y="5057978"/>
          <a:ext cx="4449711" cy="1303444"/>
        </p:xfrm>
        <a:graphic>
          <a:graphicData uri="http://schemas.openxmlformats.org/drawingml/2006/table">
            <a:tbl>
              <a:tblPr/>
              <a:tblGrid>
                <a:gridCol w="1733925">
                  <a:extLst>
                    <a:ext uri="{9D8B030D-6E8A-4147-A177-3AD203B41FA5}">
                      <a16:colId xmlns:a16="http://schemas.microsoft.com/office/drawing/2014/main" val="148461147"/>
                    </a:ext>
                  </a:extLst>
                </a:gridCol>
                <a:gridCol w="1357893">
                  <a:extLst>
                    <a:ext uri="{9D8B030D-6E8A-4147-A177-3AD203B41FA5}">
                      <a16:colId xmlns:a16="http://schemas.microsoft.com/office/drawing/2014/main" val="2615937228"/>
                    </a:ext>
                  </a:extLst>
                </a:gridCol>
                <a:gridCol w="1357893">
                  <a:extLst>
                    <a:ext uri="{9D8B030D-6E8A-4147-A177-3AD203B41FA5}">
                      <a16:colId xmlns:a16="http://schemas.microsoft.com/office/drawing/2014/main" val="2677409748"/>
                    </a:ext>
                  </a:extLst>
                </a:gridCol>
              </a:tblGrid>
              <a:tr h="325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Product_Bands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Total_Rev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Total_Return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443051"/>
                  </a:ext>
                </a:extLst>
              </a:tr>
              <a:tr h="325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Low Products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390739539.1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23127145.03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246433"/>
                  </a:ext>
                </a:extLst>
              </a:tr>
              <a:tr h="325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Medium Products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249389332.4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14837255.68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623712"/>
                  </a:ext>
                </a:extLst>
              </a:tr>
              <a:tr h="3258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 Products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92616003.47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5351246.92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353260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F8E32EAB-FE1A-995B-C440-0D9CA2410F8D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5449369D-0BF5-7512-8F6B-E70C8D558129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84898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4D926-56D1-BA38-B283-B68F1CBC3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3C5C1ABD-B396-395F-5A77-4AA1BEFB286B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C4F5DBFD-7D9E-CC56-181E-F84426E9BA4C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299B07A-4CD4-FD34-9C98-04F8D0AF9896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BB8663E5-A37C-B978-5866-1DAB660AA6BD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05A631E-5CCE-8A4D-DC82-4B0738B4D468}"/>
              </a:ext>
            </a:extLst>
          </p:cNvPr>
          <p:cNvSpPr txBox="1"/>
          <p:nvPr/>
        </p:nvSpPr>
        <p:spPr>
          <a:xfrm>
            <a:off x="672184" y="1157546"/>
            <a:ext cx="50636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Dominant Revenue Segment:</a:t>
            </a:r>
            <a:br>
              <a:rPr lang="en-US" altLang="en-US" sz="1600" dirty="0"/>
            </a:br>
            <a:r>
              <a:rPr lang="en-US" altLang="en-US" sz="1600" dirty="0"/>
              <a:t>Low-priced products generate the highest revenue (~₹390.7M), contributing the largest share to total sales.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Balanced Mid-Tier Performance:</a:t>
            </a:r>
            <a:br>
              <a:rPr lang="en-US" altLang="en-US" sz="1600" dirty="0"/>
            </a:br>
            <a:r>
              <a:rPr lang="en-US" altLang="en-US" sz="1600" dirty="0"/>
              <a:t>Medium-priced products contribute a significant ₹249.3M, indicating stable demand in the mid-price range.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High-Price Niche Market:</a:t>
            </a:r>
            <a:br>
              <a:rPr lang="en-US" altLang="en-US" sz="1600" dirty="0"/>
            </a:br>
            <a:r>
              <a:rPr lang="en-US" altLang="en-US" sz="1600" dirty="0"/>
              <a:t>High-priced products account for only ₹92.6M, showing limited but premium-focused demand.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Return Trends:</a:t>
            </a:r>
            <a:br>
              <a:rPr lang="en-US" altLang="en-US" sz="1600" dirty="0"/>
            </a:br>
            <a:r>
              <a:rPr lang="en-US" altLang="en-US" sz="1600" dirty="0"/>
              <a:t>Return amounts correlate with revenue levels — low-priced items also have the highest total returns (~₹23.1M), possibly due to higher sales volume.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6E6AF-802B-3495-237D-D0AD0099AAE6}"/>
              </a:ext>
            </a:extLst>
          </p:cNvPr>
          <p:cNvSpPr txBox="1"/>
          <p:nvPr/>
        </p:nvSpPr>
        <p:spPr>
          <a:xfrm>
            <a:off x="6424063" y="1157546"/>
            <a:ext cx="506364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Optimize Low-Price Range:</a:t>
            </a:r>
            <a:br>
              <a:rPr lang="en-US" altLang="en-US" sz="1600" dirty="0"/>
            </a:br>
            <a:r>
              <a:rPr lang="en-US" altLang="en-US" sz="1600" dirty="0"/>
              <a:t>Maintain strong inventory and ensure consistent quality to minimize returns in this high-volume segment.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Boost Medium Segment Profitability:</a:t>
            </a:r>
            <a:br>
              <a:rPr lang="en-US" altLang="en-US" sz="1600" dirty="0"/>
            </a:br>
            <a:r>
              <a:rPr lang="en-US" altLang="en-US" sz="1600" dirty="0"/>
              <a:t>Introduce targeted promotions to convert medium-tier customers into repeat buyers.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Expand Premium Category:</a:t>
            </a:r>
            <a:br>
              <a:rPr lang="en-US" altLang="en-US" sz="1600" dirty="0"/>
            </a:br>
            <a:r>
              <a:rPr lang="en-US" altLang="en-US" sz="1600" dirty="0"/>
              <a:t>Improve product visibility, highlight premium features, and bundle offers to drive interest in high-value items.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Analyze Return Reasons:</a:t>
            </a:r>
            <a:br>
              <a:rPr lang="en-US" altLang="en-US" sz="1600" dirty="0"/>
            </a:br>
            <a:r>
              <a:rPr lang="en-US" altLang="en-US" sz="1600" dirty="0"/>
              <a:t>Investigate return patterns across price bands to identify product or service issues, especially in the low-price category.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2DFD9-A805-E6A3-31FD-FC8513BD13E8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A8BC2E-408F-22E4-CC13-3716086E6DC4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9129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CC2D-594D-3D7D-BF66-532FC7A81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9D841DF7-D891-CA87-414F-8796A3D629C5}"/>
              </a:ext>
            </a:extLst>
          </p:cNvPr>
          <p:cNvSpPr txBox="1">
            <a:spLocks/>
          </p:cNvSpPr>
          <p:nvPr/>
        </p:nvSpPr>
        <p:spPr>
          <a:xfrm>
            <a:off x="1277050" y="826733"/>
            <a:ext cx="9637874" cy="622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Calculate the average number of items and revenue per basket across different countries.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49B8DF41-6A9E-A6D1-201B-93CA1BCA421C}"/>
              </a:ext>
            </a:extLst>
          </p:cNvPr>
          <p:cNvSpPr txBox="1">
            <a:spLocks/>
          </p:cNvSpPr>
          <p:nvPr/>
        </p:nvSpPr>
        <p:spPr>
          <a:xfrm>
            <a:off x="3600547" y="5822"/>
            <a:ext cx="4990883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400" b="1" dirty="0">
                <a:latin typeface="+mj-lt"/>
              </a:rPr>
              <a:t>9. Basket Size Insights</a:t>
            </a:r>
            <a:endParaRPr lang="en-US" sz="4400" dirty="0">
              <a:latin typeface="+mj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1CE7D9C-D7E9-B90F-0469-EAAF88C4F648}"/>
              </a:ext>
            </a:extLst>
          </p:cNvPr>
          <p:cNvGraphicFramePr>
            <a:graphicFrameLocks noGrp="1"/>
          </p:cNvGraphicFramePr>
          <p:nvPr/>
        </p:nvGraphicFramePr>
        <p:xfrm>
          <a:off x="2812377" y="4690482"/>
          <a:ext cx="6567229" cy="812022"/>
        </p:xfrm>
        <a:graphic>
          <a:graphicData uri="http://schemas.openxmlformats.org/drawingml/2006/table">
            <a:tbl>
              <a:tblPr/>
              <a:tblGrid>
                <a:gridCol w="1720672">
                  <a:extLst>
                    <a:ext uri="{9D8B030D-6E8A-4147-A177-3AD203B41FA5}">
                      <a16:colId xmlns:a16="http://schemas.microsoft.com/office/drawing/2014/main" val="190231716"/>
                    </a:ext>
                  </a:extLst>
                </a:gridCol>
                <a:gridCol w="1448232">
                  <a:extLst>
                    <a:ext uri="{9D8B030D-6E8A-4147-A177-3AD203B41FA5}">
                      <a16:colId xmlns:a16="http://schemas.microsoft.com/office/drawing/2014/main" val="673826632"/>
                    </a:ext>
                  </a:extLst>
                </a:gridCol>
                <a:gridCol w="1835383">
                  <a:extLst>
                    <a:ext uri="{9D8B030D-6E8A-4147-A177-3AD203B41FA5}">
                      <a16:colId xmlns:a16="http://schemas.microsoft.com/office/drawing/2014/main" val="211015934"/>
                    </a:ext>
                  </a:extLst>
                </a:gridCol>
                <a:gridCol w="1562942">
                  <a:extLst>
                    <a:ext uri="{9D8B030D-6E8A-4147-A177-3AD203B41FA5}">
                      <a16:colId xmlns:a16="http://schemas.microsoft.com/office/drawing/2014/main" val="3621395027"/>
                    </a:ext>
                  </a:extLst>
                </a:gridCol>
              </a:tblGrid>
              <a:tr h="38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115678"/>
                  </a:ext>
                </a:extLst>
              </a:tr>
              <a:tr h="4288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4288334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588589044.6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1788866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144155830.46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725218"/>
                  </a:ext>
                </a:extLst>
              </a:tr>
            </a:tbl>
          </a:graphicData>
        </a:graphic>
      </p:graphicFrame>
      <p:sp>
        <p:nvSpPr>
          <p:cNvPr id="21" name="Google Shape;534;p55">
            <a:extLst>
              <a:ext uri="{FF2B5EF4-FFF2-40B4-BE49-F238E27FC236}">
                <a16:creationId xmlns:a16="http://schemas.microsoft.com/office/drawing/2014/main" id="{01E18907-EF50-01E7-37BA-441C46731DFE}"/>
              </a:ext>
            </a:extLst>
          </p:cNvPr>
          <p:cNvSpPr/>
          <p:nvPr/>
        </p:nvSpPr>
        <p:spPr>
          <a:xfrm>
            <a:off x="2704217" y="4196913"/>
            <a:ext cx="6783538" cy="2155732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BD1E8-8AD7-455D-F540-C79A6A3D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5" y="1711934"/>
            <a:ext cx="11955543" cy="2067213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38D0EA-E25B-27DE-A3EE-17E13001C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080764"/>
              </p:ext>
            </p:extLst>
          </p:nvPr>
        </p:nvGraphicFramePr>
        <p:xfrm>
          <a:off x="2812372" y="4293887"/>
          <a:ext cx="6567228" cy="1961784"/>
        </p:xfrm>
        <a:graphic>
          <a:graphicData uri="http://schemas.openxmlformats.org/drawingml/2006/table">
            <a:tbl>
              <a:tblPr/>
              <a:tblGrid>
                <a:gridCol w="1442512">
                  <a:extLst>
                    <a:ext uri="{9D8B030D-6E8A-4147-A177-3AD203B41FA5}">
                      <a16:colId xmlns:a16="http://schemas.microsoft.com/office/drawing/2014/main" val="2332938670"/>
                    </a:ext>
                  </a:extLst>
                </a:gridCol>
                <a:gridCol w="1613336">
                  <a:extLst>
                    <a:ext uri="{9D8B030D-6E8A-4147-A177-3AD203B41FA5}">
                      <a16:colId xmlns:a16="http://schemas.microsoft.com/office/drawing/2014/main" val="3712730535"/>
                    </a:ext>
                  </a:extLst>
                </a:gridCol>
                <a:gridCol w="2315613">
                  <a:extLst>
                    <a:ext uri="{9D8B030D-6E8A-4147-A177-3AD203B41FA5}">
                      <a16:colId xmlns:a16="http://schemas.microsoft.com/office/drawing/2014/main" val="3593351577"/>
                    </a:ext>
                  </a:extLst>
                </a:gridCol>
                <a:gridCol w="1195767">
                  <a:extLst>
                    <a:ext uri="{9D8B030D-6E8A-4147-A177-3AD203B41FA5}">
                      <a16:colId xmlns:a16="http://schemas.microsoft.com/office/drawing/2014/main" val="2398123637"/>
                    </a:ext>
                  </a:extLst>
                </a:gridCol>
              </a:tblGrid>
              <a:tr h="24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Country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Avg_No_of_Items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Avg_Rev_Per_Sale_Basket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Total_Basket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819302"/>
                  </a:ext>
                </a:extLst>
              </a:tr>
              <a:tr h="24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Deutschland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56.93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506737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643530"/>
                  </a:ext>
                </a:extLst>
              </a:tr>
              <a:tr h="24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EspaÃ±a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1.45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57.4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387922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258629"/>
                  </a:ext>
                </a:extLst>
              </a:tr>
              <a:tr h="24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France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56.99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438787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548607"/>
                  </a:ext>
                </a:extLst>
              </a:tr>
              <a:tr h="24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Portugal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1.45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56.99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392147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531369"/>
                  </a:ext>
                </a:extLst>
              </a:tr>
              <a:tr h="24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United Kingdom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40.07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423831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21157"/>
                  </a:ext>
                </a:extLst>
              </a:tr>
              <a:tr h="24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United States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63.23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1139376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388309"/>
                  </a:ext>
                </a:extLst>
              </a:tr>
              <a:tr h="2452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ä¸­å›½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488.87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1048470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291035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3A97FE5E-50C1-9683-F4FA-F5FAC47761C6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F5189200-7D16-4341-98E2-848D8541F165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008420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9F070-3C7E-48CB-FE91-6C67B49C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8D6ECDD1-C9F1-3D94-6226-0B8C6435E5A0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024CD6ED-6C14-81A4-FD0E-B4B6EFFF7D7A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5E41FA72-686F-38A0-6C95-48B92B08403B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1BCEEC99-BAF6-F7B4-9725-E4D1B83AB840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F56E2DB-8A7E-D9BD-55BD-4D5437305F52}"/>
              </a:ext>
            </a:extLst>
          </p:cNvPr>
          <p:cNvSpPr txBox="1"/>
          <p:nvPr/>
        </p:nvSpPr>
        <p:spPr>
          <a:xfrm>
            <a:off x="672184" y="1157546"/>
            <a:ext cx="506364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Uniform Basket Size:</a:t>
            </a:r>
            <a:br>
              <a:rPr lang="en-US" altLang="en-US" sz="1600" dirty="0"/>
            </a:br>
            <a:r>
              <a:rPr lang="en-US" altLang="en-US" sz="1600" dirty="0"/>
              <a:t>Across all countries, the average number of items per basket is nearly consistent (~1.45–1.46), suggesting similar purchasing behavior in quantity.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Revenue Variation by Country:</a:t>
            </a:r>
            <a:br>
              <a:rPr lang="en-US" altLang="en-US" sz="1600" dirty="0"/>
            </a:br>
            <a:r>
              <a:rPr lang="en-US" altLang="en-US" sz="1600" i="1" dirty="0"/>
              <a:t>España (57.40)</a:t>
            </a:r>
            <a:r>
              <a:rPr lang="en-US" altLang="en-US" sz="1600" dirty="0"/>
              <a:t> leads slightly in average revenue per basket, while </a:t>
            </a:r>
            <a:r>
              <a:rPr lang="en-US" altLang="en-US" sz="1600" i="1" dirty="0"/>
              <a:t>United Kingdom (40.07)</a:t>
            </a:r>
            <a:r>
              <a:rPr lang="en-US" altLang="en-US" sz="1600" dirty="0"/>
              <a:t> records the lowest, indicating possible differences in pricing or product mix.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High Transaction Volume:</a:t>
            </a:r>
            <a:br>
              <a:rPr lang="en-US" altLang="en-US" sz="1600" dirty="0"/>
            </a:br>
            <a:r>
              <a:rPr lang="en-US" altLang="en-US" sz="1600" i="1" dirty="0"/>
              <a:t>Deutschland (506K baskets)</a:t>
            </a:r>
            <a:r>
              <a:rPr lang="en-US" altLang="en-US" sz="1600" dirty="0"/>
              <a:t> has the highest total baskets, contributing significantly to overall sales volume.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Potential Pricing Gap:</a:t>
            </a:r>
            <a:br>
              <a:rPr lang="en-US" altLang="en-US" sz="1600" dirty="0"/>
            </a:br>
            <a:r>
              <a:rPr lang="en-US" altLang="en-US" sz="1600" dirty="0"/>
              <a:t>Despite similar basket sizes, the UK’s lower revenue per basket may reflect cheaper product categories or stronger discounting.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CC9CAE-7297-C513-1072-D79CD744AB88}"/>
              </a:ext>
            </a:extLst>
          </p:cNvPr>
          <p:cNvSpPr txBox="1"/>
          <p:nvPr/>
        </p:nvSpPr>
        <p:spPr>
          <a:xfrm>
            <a:off x="6424063" y="1157546"/>
            <a:ext cx="506364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Review UK Pricing Strategy:</a:t>
            </a:r>
            <a:br>
              <a:rPr lang="en-US" altLang="en-US" sz="1600" dirty="0"/>
            </a:br>
            <a:r>
              <a:rPr lang="en-US" altLang="en-US" sz="1600" dirty="0"/>
              <a:t>Investigate reasons for lower basket revenue and explore upselling or premium product placement to raise per-basket value.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Replicate High-Revenue Models:</a:t>
            </a:r>
            <a:br>
              <a:rPr lang="en-US" altLang="en-US" sz="1600" dirty="0"/>
            </a:br>
            <a:r>
              <a:rPr lang="en-US" altLang="en-US" sz="1600" dirty="0"/>
              <a:t>Analyze España’s approach (product mix or pricing) and apply successful tactics in lower-revenue markets.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Encourage Multi-Item Purchases:</a:t>
            </a:r>
            <a:br>
              <a:rPr lang="en-US" altLang="en-US" sz="1600" dirty="0"/>
            </a:br>
            <a:r>
              <a:rPr lang="en-US" altLang="en-US" sz="1600" dirty="0"/>
              <a:t>Implement bundled offers or minimum spend incentives to increase average items per basket.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Continuous Monitoring:</a:t>
            </a:r>
            <a:br>
              <a:rPr lang="en-US" altLang="en-US" sz="1600" dirty="0"/>
            </a:br>
            <a:r>
              <a:rPr lang="en-US" altLang="en-US" sz="1600" dirty="0"/>
              <a:t>Track changes in average basket metrics monthly to identify shifts in purchasing trends across countries.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BA56B1-0958-5693-A789-658FB9645556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28383-0A46-79E3-3CE9-A00C83FE64C5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390066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50D6-CB1B-E91B-2ED1-A5D2E7990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9;p55">
            <a:extLst>
              <a:ext uri="{FF2B5EF4-FFF2-40B4-BE49-F238E27FC236}">
                <a16:creationId xmlns:a16="http://schemas.microsoft.com/office/drawing/2014/main" id="{A5EE782F-1701-BE50-9D1F-4D7F6374FEFE}"/>
              </a:ext>
            </a:extLst>
          </p:cNvPr>
          <p:cNvSpPr txBox="1">
            <a:spLocks/>
          </p:cNvSpPr>
          <p:nvPr/>
        </p:nvSpPr>
        <p:spPr>
          <a:xfrm>
            <a:off x="1523402" y="697306"/>
            <a:ext cx="9145143" cy="622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+mn-lt"/>
              </a:rPr>
              <a:t>Analyze month-over-month revenue growth overall and for the top three categories.</a:t>
            </a:r>
          </a:p>
        </p:txBody>
      </p:sp>
      <p:sp>
        <p:nvSpPr>
          <p:cNvPr id="3" name="Google Shape;530;p55">
            <a:extLst>
              <a:ext uri="{FF2B5EF4-FFF2-40B4-BE49-F238E27FC236}">
                <a16:creationId xmlns:a16="http://schemas.microsoft.com/office/drawing/2014/main" id="{EA53F5A0-7ABB-4187-801C-5BA1473C3083}"/>
              </a:ext>
            </a:extLst>
          </p:cNvPr>
          <p:cNvSpPr txBox="1">
            <a:spLocks/>
          </p:cNvSpPr>
          <p:nvPr/>
        </p:nvSpPr>
        <p:spPr>
          <a:xfrm>
            <a:off x="2965382" y="0"/>
            <a:ext cx="6261209" cy="7154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400" b="1" dirty="0">
                <a:latin typeface="+mj-lt"/>
              </a:rPr>
              <a:t>10. Monthly Growth Trends</a:t>
            </a:r>
            <a:endParaRPr lang="en-US" sz="4400" dirty="0">
              <a:latin typeface="+mj-lt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63B97C7-BA10-F4CD-58C3-6B62E445FAD6}"/>
              </a:ext>
            </a:extLst>
          </p:cNvPr>
          <p:cNvGraphicFramePr>
            <a:graphicFrameLocks noGrp="1"/>
          </p:cNvGraphicFramePr>
          <p:nvPr/>
        </p:nvGraphicFramePr>
        <p:xfrm>
          <a:off x="2812377" y="4690482"/>
          <a:ext cx="6567229" cy="812022"/>
        </p:xfrm>
        <a:graphic>
          <a:graphicData uri="http://schemas.openxmlformats.org/drawingml/2006/table">
            <a:tbl>
              <a:tblPr/>
              <a:tblGrid>
                <a:gridCol w="1720672">
                  <a:extLst>
                    <a:ext uri="{9D8B030D-6E8A-4147-A177-3AD203B41FA5}">
                      <a16:colId xmlns:a16="http://schemas.microsoft.com/office/drawing/2014/main" val="190231716"/>
                    </a:ext>
                  </a:extLst>
                </a:gridCol>
                <a:gridCol w="1448232">
                  <a:extLst>
                    <a:ext uri="{9D8B030D-6E8A-4147-A177-3AD203B41FA5}">
                      <a16:colId xmlns:a16="http://schemas.microsoft.com/office/drawing/2014/main" val="673826632"/>
                    </a:ext>
                  </a:extLst>
                </a:gridCol>
                <a:gridCol w="1835383">
                  <a:extLst>
                    <a:ext uri="{9D8B030D-6E8A-4147-A177-3AD203B41FA5}">
                      <a16:colId xmlns:a16="http://schemas.microsoft.com/office/drawing/2014/main" val="211015934"/>
                    </a:ext>
                  </a:extLst>
                </a:gridCol>
                <a:gridCol w="1562942">
                  <a:extLst>
                    <a:ext uri="{9D8B030D-6E8A-4147-A177-3AD203B41FA5}">
                      <a16:colId xmlns:a16="http://schemas.microsoft.com/office/drawing/2014/main" val="3621395027"/>
                    </a:ext>
                  </a:extLst>
                </a:gridCol>
              </a:tblGrid>
              <a:tr h="38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Revenue_NoDiscount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SalesVolume_WithDiscount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Revenue_WithDiscount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115678"/>
                  </a:ext>
                </a:extLst>
              </a:tr>
              <a:tr h="4288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4288334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588589044.6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1788866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144155830.46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725218"/>
                  </a:ext>
                </a:extLst>
              </a:tr>
            </a:tbl>
          </a:graphicData>
        </a:graphic>
      </p:graphicFrame>
      <p:sp>
        <p:nvSpPr>
          <p:cNvPr id="21" name="Google Shape;534;p55">
            <a:extLst>
              <a:ext uri="{FF2B5EF4-FFF2-40B4-BE49-F238E27FC236}">
                <a16:creationId xmlns:a16="http://schemas.microsoft.com/office/drawing/2014/main" id="{EDB098A8-6F6B-73FA-E38E-7B4A114E8926}"/>
              </a:ext>
            </a:extLst>
          </p:cNvPr>
          <p:cNvSpPr/>
          <p:nvPr/>
        </p:nvSpPr>
        <p:spPr>
          <a:xfrm>
            <a:off x="2704207" y="5419516"/>
            <a:ext cx="6783538" cy="1286054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D3D77D-C898-DDF6-3C43-6B4BC1B2F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73" y="4011240"/>
            <a:ext cx="11431595" cy="1286054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EA0250-9BF2-D512-4827-5080EBD11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64" y="1392355"/>
            <a:ext cx="11584017" cy="103837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B82AB84-B44E-4918-E2EB-C3AD1A7ED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58587"/>
              </p:ext>
            </p:extLst>
          </p:nvPr>
        </p:nvGraphicFramePr>
        <p:xfrm>
          <a:off x="2834781" y="5517667"/>
          <a:ext cx="6522378" cy="1104900"/>
        </p:xfrm>
        <a:graphic>
          <a:graphicData uri="http://schemas.openxmlformats.org/drawingml/2006/table">
            <a:tbl>
              <a:tblPr/>
              <a:tblGrid>
                <a:gridCol w="922978">
                  <a:extLst>
                    <a:ext uri="{9D8B030D-6E8A-4147-A177-3AD203B41FA5}">
                      <a16:colId xmlns:a16="http://schemas.microsoft.com/office/drawing/2014/main" val="3573096233"/>
                    </a:ext>
                  </a:extLst>
                </a:gridCol>
                <a:gridCol w="594808">
                  <a:extLst>
                    <a:ext uri="{9D8B030D-6E8A-4147-A177-3AD203B41FA5}">
                      <a16:colId xmlns:a16="http://schemas.microsoft.com/office/drawing/2014/main" val="650136498"/>
                    </a:ext>
                  </a:extLst>
                </a:gridCol>
                <a:gridCol w="779403">
                  <a:extLst>
                    <a:ext uri="{9D8B030D-6E8A-4147-A177-3AD203B41FA5}">
                      <a16:colId xmlns:a16="http://schemas.microsoft.com/office/drawing/2014/main" val="3947217628"/>
                    </a:ext>
                  </a:extLst>
                </a:gridCol>
                <a:gridCol w="1210127">
                  <a:extLst>
                    <a:ext uri="{9D8B030D-6E8A-4147-A177-3AD203B41FA5}">
                      <a16:colId xmlns:a16="http://schemas.microsoft.com/office/drawing/2014/main" val="3747843518"/>
                    </a:ext>
                  </a:extLst>
                </a:gridCol>
                <a:gridCol w="1210127">
                  <a:extLst>
                    <a:ext uri="{9D8B030D-6E8A-4147-A177-3AD203B41FA5}">
                      <a16:colId xmlns:a16="http://schemas.microsoft.com/office/drawing/2014/main" val="229034319"/>
                    </a:ext>
                  </a:extLst>
                </a:gridCol>
                <a:gridCol w="1804935">
                  <a:extLst>
                    <a:ext uri="{9D8B030D-6E8A-4147-A177-3AD203B41FA5}">
                      <a16:colId xmlns:a16="http://schemas.microsoft.com/office/drawing/2014/main" val="54987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Prv_Rev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Ctg_MoM_Growth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86811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Children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1391900.45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NULL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NULL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91006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Children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835450.99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1391900.45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-39.98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831618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Children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3628070.37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835450.99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334.26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09034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Children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1694579.2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3628070.37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-53.29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822673"/>
                  </a:ext>
                </a:extLst>
              </a:tr>
            </a:tbl>
          </a:graphicData>
        </a:graphic>
      </p:graphicFrame>
      <p:sp>
        <p:nvSpPr>
          <p:cNvPr id="16" name="Google Shape;534;p55">
            <a:extLst>
              <a:ext uri="{FF2B5EF4-FFF2-40B4-BE49-F238E27FC236}">
                <a16:creationId xmlns:a16="http://schemas.microsoft.com/office/drawing/2014/main" id="{060E12B1-F282-E17B-6953-02C0EF12DB6F}"/>
              </a:ext>
            </a:extLst>
          </p:cNvPr>
          <p:cNvSpPr/>
          <p:nvPr/>
        </p:nvSpPr>
        <p:spPr>
          <a:xfrm>
            <a:off x="2704207" y="2552947"/>
            <a:ext cx="6783538" cy="1286054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A5A8F4-73F8-A5D7-13B5-16E50DED0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833450"/>
              </p:ext>
            </p:extLst>
          </p:nvPr>
        </p:nvGraphicFramePr>
        <p:xfrm>
          <a:off x="2812357" y="2608439"/>
          <a:ext cx="6567229" cy="1175070"/>
        </p:xfrm>
        <a:graphic>
          <a:graphicData uri="http://schemas.openxmlformats.org/drawingml/2006/table">
            <a:tbl>
              <a:tblPr/>
              <a:tblGrid>
                <a:gridCol w="628547">
                  <a:extLst>
                    <a:ext uri="{9D8B030D-6E8A-4147-A177-3AD203B41FA5}">
                      <a16:colId xmlns:a16="http://schemas.microsoft.com/office/drawing/2014/main" val="1482512952"/>
                    </a:ext>
                  </a:extLst>
                </a:gridCol>
                <a:gridCol w="823614">
                  <a:extLst>
                    <a:ext uri="{9D8B030D-6E8A-4147-A177-3AD203B41FA5}">
                      <a16:colId xmlns:a16="http://schemas.microsoft.com/office/drawing/2014/main" val="1260007521"/>
                    </a:ext>
                  </a:extLst>
                </a:gridCol>
                <a:gridCol w="1408811">
                  <a:extLst>
                    <a:ext uri="{9D8B030D-6E8A-4147-A177-3AD203B41FA5}">
                      <a16:colId xmlns:a16="http://schemas.microsoft.com/office/drawing/2014/main" val="404006948"/>
                    </a:ext>
                  </a:extLst>
                </a:gridCol>
                <a:gridCol w="1408811">
                  <a:extLst>
                    <a:ext uri="{9D8B030D-6E8A-4147-A177-3AD203B41FA5}">
                      <a16:colId xmlns:a16="http://schemas.microsoft.com/office/drawing/2014/main" val="3150471944"/>
                    </a:ext>
                  </a:extLst>
                </a:gridCol>
                <a:gridCol w="2297446">
                  <a:extLst>
                    <a:ext uri="{9D8B030D-6E8A-4147-A177-3AD203B41FA5}">
                      <a16:colId xmlns:a16="http://schemas.microsoft.com/office/drawing/2014/main" val="285313384"/>
                    </a:ext>
                  </a:extLst>
                </a:gridCol>
              </a:tblGrid>
              <a:tr h="2350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months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Rev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Prv_Rev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Overall_MoM_Growth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981476"/>
                  </a:ext>
                </a:extLst>
              </a:tr>
              <a:tr h="2350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13901921.78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NULL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NULL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709021"/>
                  </a:ext>
                </a:extLst>
              </a:tr>
              <a:tr h="2350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11344209.79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13901921.78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-18.4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232250"/>
                  </a:ext>
                </a:extLst>
              </a:tr>
              <a:tr h="2350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30245575.19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11344209.79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166.62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27086"/>
                  </a:ext>
                </a:extLst>
              </a:tr>
              <a:tr h="2350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23409291.97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30245575.19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-22.6</a:t>
                      </a:r>
                    </a:p>
                  </a:txBody>
                  <a:tcPr marL="7620" marR="7620" marT="7620" marB="0" anchor="b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275924"/>
                  </a:ext>
                </a:extLst>
              </a:tr>
            </a:tbl>
          </a:graphicData>
        </a:graphic>
      </p:graphicFrame>
      <p:grpSp>
        <p:nvGrpSpPr>
          <p:cNvPr id="4" name="Group 12">
            <a:extLst>
              <a:ext uri="{FF2B5EF4-FFF2-40B4-BE49-F238E27FC236}">
                <a16:creationId xmlns:a16="http://schemas.microsoft.com/office/drawing/2014/main" id="{2B4F1A68-AAE7-C6D4-4E5A-1E9A8CB6A073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ACBD2E72-6064-3CD6-8C18-4215C4965A6C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691647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918A-8D51-CF2A-6E81-ABBE3508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1BEC6299-834E-1D81-1B2F-2B927787EBA4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B04ACCB7-E09C-9EFA-5E64-73479F7D3627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17C0759B-613C-D7DF-F024-E115E45DEC10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AAE85CB9-3D02-AB6B-1D43-993A718576E3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B318019-B94A-598E-6F87-5CE82252DC55}"/>
              </a:ext>
            </a:extLst>
          </p:cNvPr>
          <p:cNvSpPr txBox="1"/>
          <p:nvPr/>
        </p:nvSpPr>
        <p:spPr>
          <a:xfrm>
            <a:off x="672184" y="1157546"/>
            <a:ext cx="50636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Overall Volatility:</a:t>
            </a:r>
            <a:br>
              <a:rPr lang="en-US" sz="1600" dirty="0"/>
            </a:br>
            <a:r>
              <a:rPr lang="en-US" sz="1600" dirty="0"/>
              <a:t>Revenue fluctuated sharply — down </a:t>
            </a:r>
            <a:r>
              <a:rPr lang="en-US" sz="1600" b="1" dirty="0"/>
              <a:t>18% in Feb</a:t>
            </a:r>
            <a:r>
              <a:rPr lang="en-US" sz="1600" dirty="0"/>
              <a:t>, up </a:t>
            </a:r>
            <a:r>
              <a:rPr lang="en-US" sz="1600" b="1" dirty="0"/>
              <a:t>+167% in Mar</a:t>
            </a:r>
            <a:r>
              <a:rPr lang="en-US" sz="1600" dirty="0"/>
              <a:t>, then dipped </a:t>
            </a:r>
            <a:r>
              <a:rPr lang="en-US" sz="1600" b="1" dirty="0"/>
              <a:t>–23% in Apr</a:t>
            </a:r>
            <a:r>
              <a:rPr lang="en-US" sz="1600" dirty="0"/>
              <a:t>, showing strong seasonal or promo-driven impact.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Category Variation:</a:t>
            </a:r>
            <a:br>
              <a:rPr lang="en-US" sz="1600" b="1" dirty="0"/>
            </a:br>
            <a:r>
              <a:rPr lang="en-US" sz="1600" b="1" dirty="0"/>
              <a:t>Children:</a:t>
            </a:r>
            <a:r>
              <a:rPr lang="en-US" sz="1600" dirty="0"/>
              <a:t> Highly volatile (+334% in Mar).</a:t>
            </a:r>
            <a:br>
              <a:rPr lang="en-US" sz="1600" dirty="0"/>
            </a:br>
            <a:r>
              <a:rPr lang="en-US" sz="1600" b="1" dirty="0"/>
              <a:t>Feminine:</a:t>
            </a:r>
            <a:r>
              <a:rPr lang="en-US" sz="1600" dirty="0"/>
              <a:t> More stable with mild growth shifts.</a:t>
            </a:r>
            <a:br>
              <a:rPr lang="en-US" sz="1600" dirty="0"/>
            </a:br>
            <a:r>
              <a:rPr lang="en-US" sz="1600" b="1" dirty="0"/>
              <a:t>Masculine:</a:t>
            </a:r>
            <a:r>
              <a:rPr lang="en-US" sz="1600" dirty="0"/>
              <a:t> Moderate, steady trend balancing overall sales.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March Peak:</a:t>
            </a:r>
            <a:br>
              <a:rPr lang="en-US" sz="1600" b="1" dirty="0"/>
            </a:br>
            <a:r>
              <a:rPr lang="en-US" sz="1600" dirty="0"/>
              <a:t>All categories hit peak revenue in </a:t>
            </a:r>
            <a:r>
              <a:rPr lang="en-US" sz="1600" b="1" dirty="0"/>
              <a:t>March 2023</a:t>
            </a:r>
            <a:r>
              <a:rPr lang="en-US" sz="1600" dirty="0"/>
              <a:t>, likely due to promotions or high seasonal demand.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Stabilization After March:</a:t>
            </a:r>
            <a:br>
              <a:rPr lang="en-US" sz="1600" dirty="0"/>
            </a:br>
            <a:r>
              <a:rPr lang="en-US" sz="1600" dirty="0"/>
              <a:t>Growth slowed in </a:t>
            </a:r>
            <a:r>
              <a:rPr lang="en-US" sz="1600" b="1" dirty="0"/>
              <a:t>April–May</a:t>
            </a:r>
            <a:r>
              <a:rPr lang="en-US" sz="1600" dirty="0"/>
              <a:t>, marking a return to normal demand post-campaign.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D1429-2967-786A-9CBA-2725CF64AA30}"/>
              </a:ext>
            </a:extLst>
          </p:cNvPr>
          <p:cNvSpPr txBox="1"/>
          <p:nvPr/>
        </p:nvSpPr>
        <p:spPr>
          <a:xfrm>
            <a:off x="6424063" y="1157546"/>
            <a:ext cx="506364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Replicate March Success:</a:t>
            </a:r>
            <a:br>
              <a:rPr lang="en-US" sz="1600" b="1" dirty="0"/>
            </a:br>
            <a:r>
              <a:rPr lang="en-US" sz="1600" dirty="0"/>
              <a:t>Analyze what drove the </a:t>
            </a:r>
            <a:r>
              <a:rPr lang="en-US" sz="1600" b="1" dirty="0"/>
              <a:t>March surge</a:t>
            </a:r>
            <a:r>
              <a:rPr lang="en-US" sz="1600" dirty="0"/>
              <a:t> (promotions, new launches, marketing campaigns) and plan similar initiatives quarterly to sustain growth.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Stabilize Children Category Sales:</a:t>
            </a:r>
            <a:br>
              <a:rPr lang="en-US" sz="1600" b="1" dirty="0"/>
            </a:br>
            <a:r>
              <a:rPr lang="en-US" sz="1600" dirty="0"/>
              <a:t>Since the </a:t>
            </a:r>
            <a:r>
              <a:rPr lang="en-US" sz="1600" b="1" dirty="0"/>
              <a:t>Children category</a:t>
            </a:r>
            <a:r>
              <a:rPr lang="en-US" sz="1600" dirty="0"/>
              <a:t> shows the highest volatility, implement steady marketing efforts — e.g., monthly mini-promotions or bundles — to reduce sharp drops.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Strengthen Feminine &amp; Masculine Segments:</a:t>
            </a:r>
            <a:br>
              <a:rPr lang="en-US" sz="1600" b="1" dirty="0"/>
            </a:br>
            <a:r>
              <a:rPr lang="en-US" sz="1600" dirty="0"/>
              <a:t>Focus on cross-category promotions (e.g., combo deals or gift bundles) to maintain balanced revenue and offset fluctuations in the Children segment.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Build Predictive Growth Tracking:</a:t>
            </a:r>
            <a:br>
              <a:rPr lang="en-US" sz="1600" b="1" dirty="0"/>
            </a:br>
            <a:r>
              <a:rPr lang="en-US" sz="1600" dirty="0"/>
              <a:t>Use MoM patterns to forecast category demand cycles and optimize </a:t>
            </a:r>
            <a:r>
              <a:rPr lang="en-US" sz="1600" b="1" dirty="0"/>
              <a:t>inventory, production, and marketing timing</a:t>
            </a:r>
            <a:r>
              <a:rPr lang="en-US" sz="1600" dirty="0"/>
              <a:t> to align with expected peaks.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601B3-D037-32E9-BCFC-8131F6A0F13C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0B96AC-B906-BB42-D5CC-C7A0351B2A33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4545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A0E364-D22E-AE07-E1E9-D1D045320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122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1E0C-52C4-724F-3C9B-7FAA860C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E20C69B7-6AFC-C3E5-4411-DACE5125D77F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685D612F-BC70-01E0-C94A-AB080C9C5F41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4059C4E0-A848-D1CD-1AD5-13E7C1E84BC5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A0DC0290-1109-A0FE-E160-65590E59093F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6A543F-0AD5-385D-9972-D5175A743B0F}"/>
              </a:ext>
            </a:extLst>
          </p:cNvPr>
          <p:cNvSpPr txBox="1"/>
          <p:nvPr/>
        </p:nvSpPr>
        <p:spPr>
          <a:xfrm>
            <a:off x="672184" y="1157546"/>
            <a:ext cx="506364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Total Revenue: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₹732.74M with </a:t>
            </a:r>
            <a:r>
              <a:rPr lang="en-US" altLang="en-US" sz="1600" b="1" dirty="0"/>
              <a:t>Return Rate 5.59%</a:t>
            </a:r>
            <a:r>
              <a:rPr lang="en-US" altLang="en-US" sz="1600" dirty="0"/>
              <a:t> — stable performance with moderate returns.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Average Basket Size: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Consistent, indicating steady purchase behavior.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Category Contribution: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Feminine (341M) and Masculine (327M) dominate; Children (65M) trails far behind.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Payment Contribution:</a:t>
            </a:r>
            <a:r>
              <a:rPr lang="en-US" altLang="en-US" sz="1600" dirty="0"/>
              <a:t> </a:t>
            </a:r>
            <a:br>
              <a:rPr lang="en-US" altLang="en-US" sz="1600" dirty="0"/>
            </a:br>
            <a:r>
              <a:rPr lang="en-US" altLang="en-US" sz="1600" dirty="0"/>
              <a:t>Credit Cards contribute ~80% of revenue, showing digital payment dominance.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Monthly Trend:</a:t>
            </a:r>
            <a:r>
              <a:rPr lang="en-US" altLang="en-US" sz="1600" dirty="0"/>
              <a:t> Revenue peaks in </a:t>
            </a:r>
            <a:r>
              <a:rPr lang="en-US" altLang="en-US" sz="1600" b="1" dirty="0"/>
              <a:t>December</a:t>
            </a:r>
            <a:r>
              <a:rPr lang="en-US" altLang="en-US" sz="1600" dirty="0"/>
              <a:t>, suggesting strong seasonality or festive influence.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2749C-D70C-BBB8-7C85-F5EE4737EBDA}"/>
              </a:ext>
            </a:extLst>
          </p:cNvPr>
          <p:cNvSpPr txBox="1"/>
          <p:nvPr/>
        </p:nvSpPr>
        <p:spPr>
          <a:xfrm>
            <a:off x="6424063" y="1157546"/>
            <a:ext cx="5063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Launch </a:t>
            </a:r>
            <a:r>
              <a:rPr lang="en-US" altLang="en-US" sz="1600" b="1" dirty="0"/>
              <a:t>mid-year sales campaigns</a:t>
            </a:r>
            <a:r>
              <a:rPr lang="en-US" altLang="en-US" sz="1600" dirty="0"/>
              <a:t> to smoothen monthly dips.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Maintain </a:t>
            </a:r>
            <a:r>
              <a:rPr lang="en-US" altLang="en-US" sz="1600" b="1" dirty="0"/>
              <a:t>credit card rewards or partnerships</a:t>
            </a:r>
            <a:r>
              <a:rPr lang="en-US" altLang="en-US" sz="1600" dirty="0"/>
              <a:t> to retain high-value customers.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Promote </a:t>
            </a:r>
            <a:r>
              <a:rPr lang="en-US" altLang="en-US" sz="1600" b="1" dirty="0"/>
              <a:t>Children category</a:t>
            </a:r>
            <a:r>
              <a:rPr lang="en-US" altLang="en-US" sz="1600" dirty="0"/>
              <a:t> via bundles or discount drives.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Use </a:t>
            </a:r>
            <a:r>
              <a:rPr lang="en-US" altLang="en-US" sz="1600" b="1" dirty="0"/>
              <a:t>return rate KPI</a:t>
            </a:r>
            <a:r>
              <a:rPr lang="en-US" altLang="en-US" sz="1600" dirty="0"/>
              <a:t> to continuously monitor product satisfaction.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829D6-AC14-2A0C-4D11-0AE4409F7D86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87C17-A35B-A08F-E1AD-59F858C55802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040126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3E35E-1FF3-08A2-062A-59403144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97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21DBA-AA48-304E-2EDC-68C0AD4E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D7DA394D-A970-67CF-B02F-49D1E1B4F763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5E4D8F02-9636-273C-569D-6484A24EE20D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DFDE6D9-7C67-9A9D-367F-45D3617949E6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A7D9F45D-22B5-B86E-B7F6-5B8EC0CC3A25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118083B-DF20-A817-E978-FFFE237F93CD}"/>
              </a:ext>
            </a:extLst>
          </p:cNvPr>
          <p:cNvSpPr txBox="1"/>
          <p:nvPr/>
        </p:nvSpPr>
        <p:spPr>
          <a:xfrm>
            <a:off x="672184" y="1157546"/>
            <a:ext cx="5063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Customer concentration highest in European countries</a:t>
            </a:r>
            <a:r>
              <a:rPr lang="en-US" altLang="en-US" sz="1600" dirty="0"/>
              <a:t>, with clear hotspots in a few cities.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Average spend per region</a:t>
            </a:r>
            <a:r>
              <a:rPr lang="en-US" altLang="en-US" sz="1600" dirty="0"/>
              <a:t> shows major gaps — some cities spend nearly 3× more.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Regional growth trends</a:t>
            </a:r>
            <a:r>
              <a:rPr lang="en-US" altLang="en-US" sz="1600" dirty="0"/>
              <a:t> indicate periodic spikes around late-year months.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Top cities (~100M each)</a:t>
            </a:r>
            <a:r>
              <a:rPr lang="en-US" altLang="en-US" sz="1600" dirty="0"/>
              <a:t> dominate the total sales volume, showing geographical imbalance.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1BAEE-0DB5-C677-934C-2B96A1780594}"/>
              </a:ext>
            </a:extLst>
          </p:cNvPr>
          <p:cNvSpPr txBox="1"/>
          <p:nvPr/>
        </p:nvSpPr>
        <p:spPr>
          <a:xfrm>
            <a:off x="6424063" y="1157546"/>
            <a:ext cx="50636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Focus marketing on </a:t>
            </a:r>
            <a:r>
              <a:rPr lang="en-US" altLang="en-US" sz="1600" b="1" dirty="0"/>
              <a:t>top-performing cities</a:t>
            </a:r>
            <a:r>
              <a:rPr lang="en-US" altLang="en-US" sz="1600" dirty="0"/>
              <a:t> while nurturing smaller regions.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Investigate </a:t>
            </a:r>
            <a:r>
              <a:rPr lang="en-US" altLang="en-US" sz="1600" b="1" dirty="0"/>
              <a:t>pricing and demand differences</a:t>
            </a:r>
            <a:r>
              <a:rPr lang="en-US" altLang="en-US" sz="1600" dirty="0"/>
              <a:t> between high- and low-spend regions.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Use regional filters to monitor </a:t>
            </a:r>
            <a:r>
              <a:rPr lang="en-US" altLang="en-US" sz="1600" b="1" dirty="0"/>
              <a:t>store-level contributions</a:t>
            </a:r>
            <a:r>
              <a:rPr lang="en-US" altLang="en-US" sz="1600" dirty="0"/>
              <a:t> monthly.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2F97E-4DE0-0C1D-AE2C-686F94915BC8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FB051-C081-CF8A-8587-CAC0C767924F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864479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1A71B7-9DA6-A20C-5923-13B1425F5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38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56C6-059E-A8E5-7C27-3A24CD1A3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F7D1D659-E735-A6CC-1D85-022ED2DB575E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E62569DC-9EB9-8FE4-EBFB-03AC2C5BFF79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7FC5FB51-D4D7-ABA9-EF28-7630C5ADBADE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4ABCD0E8-6306-3872-86FB-C0C9F3F1471F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73CFA7E-FC85-C53C-1E88-3F7EB349B583}"/>
              </a:ext>
            </a:extLst>
          </p:cNvPr>
          <p:cNvSpPr txBox="1"/>
          <p:nvPr/>
        </p:nvSpPr>
        <p:spPr>
          <a:xfrm>
            <a:off x="672184" y="1157546"/>
            <a:ext cx="5063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Feminine (46%)</a:t>
            </a:r>
            <a:r>
              <a:rPr lang="en-US" altLang="en-US" sz="1600" dirty="0"/>
              <a:t> is the leading category by far, followed by </a:t>
            </a:r>
            <a:r>
              <a:rPr lang="en-US" altLang="en-US" sz="1600" b="1" dirty="0"/>
              <a:t>Masculine (45%)</a:t>
            </a:r>
            <a:r>
              <a:rPr lang="en-US" altLang="en-US" sz="1600" dirty="0"/>
              <a:t>, confirming balanced gender-based performance.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Children (9%)</a:t>
            </a:r>
            <a:r>
              <a:rPr lang="en-US" altLang="en-US" sz="1600" dirty="0"/>
              <a:t> remains underdeveloped.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Top subcategories:</a:t>
            </a:r>
            <a:r>
              <a:rPr lang="en-US" altLang="en-US" sz="1600" dirty="0"/>
              <a:t> Coats &amp; Blazers (₹100M), Pants &amp; Jeans (₹94M).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Category trends </a:t>
            </a:r>
            <a:r>
              <a:rPr lang="en-US" altLang="en-US" sz="1600" dirty="0"/>
              <a:t>show </a:t>
            </a:r>
            <a:r>
              <a:rPr lang="en-US" altLang="en-US" sz="1600" b="1" dirty="0"/>
              <a:t>consistent year-end peaks</a:t>
            </a:r>
            <a:r>
              <a:rPr lang="en-US" altLang="en-US" sz="1600" dirty="0"/>
              <a:t> in all major segments.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1D3B7-F3B5-9A67-5E6B-E460BE0AE738}"/>
              </a:ext>
            </a:extLst>
          </p:cNvPr>
          <p:cNvSpPr txBox="1"/>
          <p:nvPr/>
        </p:nvSpPr>
        <p:spPr>
          <a:xfrm>
            <a:off x="6424063" y="1157546"/>
            <a:ext cx="5063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Continue product innovation and marketing in </a:t>
            </a:r>
            <a:r>
              <a:rPr lang="en-US" altLang="en-US" sz="1600" b="1" dirty="0"/>
              <a:t>Feminine and Masculine</a:t>
            </a:r>
            <a:r>
              <a:rPr lang="en-US" altLang="en-US" sz="1600" dirty="0"/>
              <a:t> categories.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Increase </a:t>
            </a:r>
            <a:r>
              <a:rPr lang="en-US" altLang="en-US" sz="1600" b="1" dirty="0"/>
              <a:t>Children product visibility</a:t>
            </a:r>
            <a:r>
              <a:rPr lang="en-US" altLang="en-US" sz="1600" dirty="0"/>
              <a:t> via seasonal campaigns or bundles.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Analyze </a:t>
            </a:r>
            <a:r>
              <a:rPr lang="en-US" altLang="en-US" sz="1600" b="1" dirty="0"/>
              <a:t>subcategory profitability</a:t>
            </a:r>
            <a:r>
              <a:rPr lang="en-US" altLang="en-US" sz="1600" dirty="0"/>
              <a:t> to guide future assortment planning.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Maintain </a:t>
            </a:r>
            <a:r>
              <a:rPr lang="en-US" altLang="en-US" sz="1600" b="1" dirty="0"/>
              <a:t>return rate under 6%</a:t>
            </a:r>
            <a:r>
              <a:rPr lang="en-US" altLang="en-US" sz="1600" dirty="0"/>
              <a:t> through tighter quality checks.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05982-4162-904A-3261-4090CEAFA76D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13F89-B675-DE29-3170-B44CF5D369C8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649974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6BF4C9-A038-830F-EA63-71810F9C1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745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E87B-D352-0C42-80D1-CBFDC345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D41E7D3C-FCA4-30F1-76A3-B8013ECB0648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3BEF2683-7454-67A1-2E17-0D1E93F5F403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CD14C2EE-624B-0B48-4A75-F000D3317B37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D2F38432-3A91-3396-5246-2B6BA779516C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6A4C5BD-544D-DAA9-BB8A-A44EE5AEF4C2}"/>
              </a:ext>
            </a:extLst>
          </p:cNvPr>
          <p:cNvSpPr txBox="1"/>
          <p:nvPr/>
        </p:nvSpPr>
        <p:spPr>
          <a:xfrm>
            <a:off x="672184" y="1157546"/>
            <a:ext cx="50636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Promotions were irregular</a:t>
            </a:r>
            <a:r>
              <a:rPr lang="en-US" altLang="en-US" sz="1600" dirty="0"/>
              <a:t>, active only in select months, showing </a:t>
            </a:r>
            <a:r>
              <a:rPr lang="en-US" altLang="en-US" sz="1600" b="1" dirty="0"/>
              <a:t>non-continuous campaigns</a:t>
            </a:r>
            <a:r>
              <a:rPr lang="en-US" altLang="en-US" sz="1600" dirty="0"/>
              <a:t> across 2023–2025.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Children category</a:t>
            </a:r>
            <a:r>
              <a:rPr lang="en-US" altLang="en-US" sz="1600" dirty="0"/>
              <a:t> gained the </a:t>
            </a:r>
            <a:r>
              <a:rPr lang="en-US" altLang="en-US" sz="1600" b="1" dirty="0"/>
              <a:t>highest sales under promotion</a:t>
            </a:r>
            <a:r>
              <a:rPr lang="en-US" altLang="en-US" sz="1600" dirty="0"/>
              <a:t>, while Feminine and Masculine saw limited lift.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Only </a:t>
            </a:r>
            <a:r>
              <a:rPr lang="en-US" altLang="en-US" sz="1600" b="1" dirty="0"/>
              <a:t>29% of total transactions</a:t>
            </a:r>
            <a:r>
              <a:rPr lang="en-US" altLang="en-US" sz="1600" dirty="0"/>
              <a:t> occurred during discounted periods, confirming </a:t>
            </a:r>
            <a:r>
              <a:rPr lang="en-US" altLang="en-US" sz="1600" b="1" dirty="0"/>
              <a:t>targeted, short-term offers</a:t>
            </a:r>
            <a:r>
              <a:rPr lang="en-US" altLang="en-US" sz="1600" dirty="0"/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Overall sales lift (−77.19%)</a:t>
            </a:r>
            <a:r>
              <a:rPr lang="en-US" altLang="en-US" sz="1600" dirty="0"/>
              <a:t> indicates promotions didn’t boost total revenue significantly.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49E55-A5EB-ED12-D413-27F967AF537F}"/>
              </a:ext>
            </a:extLst>
          </p:cNvPr>
          <p:cNvSpPr txBox="1"/>
          <p:nvPr/>
        </p:nvSpPr>
        <p:spPr>
          <a:xfrm>
            <a:off x="6424063" y="1157546"/>
            <a:ext cx="5063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Focus promotions</a:t>
            </a:r>
            <a:r>
              <a:rPr lang="en-US" altLang="en-US" sz="1600" dirty="0"/>
              <a:t> on high-response categories like </a:t>
            </a:r>
            <a:r>
              <a:rPr lang="en-US" altLang="en-US" sz="1600" b="1" dirty="0"/>
              <a:t>Children</a:t>
            </a:r>
            <a:r>
              <a:rPr lang="en-US" altLang="en-US" sz="1600" dirty="0"/>
              <a:t> to sustain momentum.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Increase promo frequency</a:t>
            </a:r>
            <a:r>
              <a:rPr lang="en-US" altLang="en-US" sz="1600" dirty="0"/>
              <a:t> and plan consistent quarterly campaigns instead of sporadic events.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Improve timing</a:t>
            </a:r>
            <a:r>
              <a:rPr lang="en-US" altLang="en-US" sz="1600" dirty="0"/>
              <a:t> by aligning promos with peak demand months (e.g., Dec–Mar).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Evaluate promo ROI</a:t>
            </a:r>
            <a:r>
              <a:rPr lang="en-US" altLang="en-US" sz="1600" dirty="0"/>
              <a:t> per category to refine discount depth and duration.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37214-38F4-020B-889C-5E453AE3A790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49AF8E-C19F-EE51-BEB6-296EC3AA65FC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225444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C939E1-7AC7-CC6D-6003-A563F1BCA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05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6E8F-80CE-80DE-E74B-D6ED5F25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D1FE4BBF-400F-DEE6-1D89-DC18D80B7D9E}"/>
              </a:ext>
            </a:extLst>
          </p:cNvPr>
          <p:cNvGrpSpPr/>
          <p:nvPr/>
        </p:nvGrpSpPr>
        <p:grpSpPr>
          <a:xfrm>
            <a:off x="6408013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3" name="Freeform 13">
              <a:extLst>
                <a:ext uri="{FF2B5EF4-FFF2-40B4-BE49-F238E27FC236}">
                  <a16:creationId xmlns:a16="http://schemas.microsoft.com/office/drawing/2014/main" id="{39FB0815-D8CF-1D3E-A8D0-284DF682DC97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3E17296-0093-801F-24A4-954407312918}"/>
              </a:ext>
            </a:extLst>
          </p:cNvPr>
          <p:cNvGrpSpPr/>
          <p:nvPr/>
        </p:nvGrpSpPr>
        <p:grpSpPr>
          <a:xfrm>
            <a:off x="656132" y="1029789"/>
            <a:ext cx="5095749" cy="5518494"/>
            <a:chOff x="0" y="0"/>
            <a:chExt cx="16854971" cy="16422712"/>
          </a:xfrm>
          <a:solidFill>
            <a:schemeClr val="tx1"/>
          </a:solidFill>
        </p:grpSpPr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BB39A075-0BF3-E29E-323B-F7E73634F717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3666E45-2C06-13DA-A7E4-F9A8F6D2D050}"/>
              </a:ext>
            </a:extLst>
          </p:cNvPr>
          <p:cNvSpPr txBox="1"/>
          <p:nvPr/>
        </p:nvSpPr>
        <p:spPr>
          <a:xfrm>
            <a:off x="672184" y="1157546"/>
            <a:ext cx="506364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Repeat Customers:</a:t>
            </a:r>
            <a:r>
              <a:rPr lang="en-US" altLang="en-US" sz="1600" dirty="0"/>
              <a:t> 74.89% — strong loyalty base.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New Customers:</a:t>
            </a:r>
            <a:r>
              <a:rPr lang="en-US" altLang="en-US" sz="1600" dirty="0"/>
              <a:t> 25.11%, reflecting steady acquisition but lower than retention.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Average Order Value:</a:t>
            </a:r>
            <a:r>
              <a:rPr lang="en-US" altLang="en-US" sz="1600" dirty="0"/>
              <a:t> ₹168.94, indicating consistent spending across segments.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Basket Size:</a:t>
            </a:r>
            <a:r>
              <a:rPr lang="en-US" altLang="en-US" sz="1600" dirty="0"/>
              <a:t> Stable across months, suggesting predictable purchasing patterns.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b="1" dirty="0"/>
              <a:t>Trendlines:</a:t>
            </a:r>
            <a:r>
              <a:rPr lang="en-US" altLang="en-US" sz="1600" dirty="0"/>
              <a:t> Repeat customers show upward movement, confirming brand loyalty.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3C030-72DD-42ED-D78C-0CFF5C2923CB}"/>
              </a:ext>
            </a:extLst>
          </p:cNvPr>
          <p:cNvSpPr txBox="1"/>
          <p:nvPr/>
        </p:nvSpPr>
        <p:spPr>
          <a:xfrm>
            <a:off x="6424063" y="1157546"/>
            <a:ext cx="506364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Maintain </a:t>
            </a:r>
            <a:r>
              <a:rPr lang="en-US" altLang="en-US" sz="1600" b="1" dirty="0"/>
              <a:t>loyalty incentives</a:t>
            </a:r>
            <a:r>
              <a:rPr lang="en-US" altLang="en-US" sz="1600" dirty="0"/>
              <a:t> (cashbacks, points) to reward repeat customers.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Encourage </a:t>
            </a:r>
            <a:r>
              <a:rPr lang="en-US" altLang="en-US" sz="1600" b="1" dirty="0"/>
              <a:t>new-to-repeat conversion</a:t>
            </a:r>
            <a:r>
              <a:rPr lang="en-US" altLang="en-US" sz="1600" dirty="0"/>
              <a:t> via onboarding offers or feedback-based engagement.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Track </a:t>
            </a:r>
            <a:r>
              <a:rPr lang="en-US" altLang="en-US" sz="1600" b="1" dirty="0"/>
              <a:t>AOV by gender or location</a:t>
            </a:r>
            <a:r>
              <a:rPr lang="en-US" altLang="en-US" sz="1600" dirty="0"/>
              <a:t> for more granular insights.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/>
              <a:t>Launch </a:t>
            </a:r>
            <a:r>
              <a:rPr lang="en-US" altLang="en-US" sz="1600" b="1" dirty="0"/>
              <a:t>cross-sell recommendations</a:t>
            </a:r>
            <a:r>
              <a:rPr lang="en-US" altLang="en-US" sz="1600" dirty="0"/>
              <a:t> to slightly raise average basket size.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5032CD-9E66-2C1B-0EBC-14497826BFF6}"/>
              </a:ext>
            </a:extLst>
          </p:cNvPr>
          <p:cNvSpPr txBox="1"/>
          <p:nvPr/>
        </p:nvSpPr>
        <p:spPr>
          <a:xfrm>
            <a:off x="2214556" y="309717"/>
            <a:ext cx="21165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11244-AABE-1DC4-C7F4-7B49F2C4E9AF}"/>
              </a:ext>
            </a:extLst>
          </p:cNvPr>
          <p:cNvSpPr txBox="1"/>
          <p:nvPr/>
        </p:nvSpPr>
        <p:spPr>
          <a:xfrm>
            <a:off x="7326887" y="206478"/>
            <a:ext cx="3257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b="1"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IN" sz="3200" dirty="0"/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8828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0439DD-BF6B-54EA-897A-E8F016BD5707}"/>
              </a:ext>
            </a:extLst>
          </p:cNvPr>
          <p:cNvSpPr txBox="1"/>
          <p:nvPr/>
        </p:nvSpPr>
        <p:spPr>
          <a:xfrm>
            <a:off x="2900516" y="0"/>
            <a:ext cx="63909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+mj-lt"/>
              </a:rPr>
              <a:t>Machine Learning Overview</a:t>
            </a:r>
            <a:endParaRPr lang="en-IN" sz="44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5C2D5-D559-52F4-36F9-5B164BFDE1FA}"/>
              </a:ext>
            </a:extLst>
          </p:cNvPr>
          <p:cNvSpPr txBox="1"/>
          <p:nvPr/>
        </p:nvSpPr>
        <p:spPr>
          <a:xfrm>
            <a:off x="1511706" y="2045861"/>
            <a:ext cx="9168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b="1" dirty="0"/>
              <a:t>Machine Learning Component – Predictive Analytics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D6FD0-F6D5-47AC-1954-3DFABC96C98A}"/>
              </a:ext>
            </a:extLst>
          </p:cNvPr>
          <p:cNvSpPr txBox="1"/>
          <p:nvPr/>
        </p:nvSpPr>
        <p:spPr>
          <a:xfrm>
            <a:off x="1511707" y="3429000"/>
            <a:ext cx="91685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In the final stage of the project, advanced machine learning models were developed to solve two major operational challenges for Global Fashion Retail: </a:t>
            </a:r>
            <a:r>
              <a:rPr lang="en-US" sz="2000" b="1" dirty="0"/>
              <a:t>predicting return-risk transactions</a:t>
            </a:r>
            <a:r>
              <a:rPr lang="en-US" sz="2000" dirty="0"/>
              <a:t> and </a:t>
            </a:r>
            <a:r>
              <a:rPr lang="en-US" sz="2000" b="1" dirty="0"/>
              <a:t>forecasting monthly demand</a:t>
            </a:r>
            <a:r>
              <a:rPr lang="en-US" sz="2000" dirty="0"/>
              <a:t>. These models help the business proactively reduce losses from returns, optimize inventory planning, and ensure better customer experience.</a:t>
            </a:r>
            <a:endParaRPr lang="en-IN" sz="2000" dirty="0"/>
          </a:p>
        </p:txBody>
      </p:sp>
      <p:grpSp>
        <p:nvGrpSpPr>
          <p:cNvPr id="10" name="Group 12">
            <a:extLst>
              <a:ext uri="{FF2B5EF4-FFF2-40B4-BE49-F238E27FC236}">
                <a16:creationId xmlns:a16="http://schemas.microsoft.com/office/drawing/2014/main" id="{48721280-C403-5EA9-C01F-5C4A33AFC4B5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390C7C27-C37A-C35C-CAB9-AB0ACE2FB66C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546002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904DD-41B9-6993-3B73-629BF610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95A986-FAF8-CF0C-BBE0-650466D3AFAF}"/>
              </a:ext>
            </a:extLst>
          </p:cNvPr>
          <p:cNvSpPr txBox="1"/>
          <p:nvPr/>
        </p:nvSpPr>
        <p:spPr>
          <a:xfrm>
            <a:off x="2998837" y="5090"/>
            <a:ext cx="61943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+mj-lt"/>
              </a:rPr>
              <a:t>Return Prediction Model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469B9E-779C-32C3-5AC4-1D9F3ABD6DF4}"/>
              </a:ext>
            </a:extLst>
          </p:cNvPr>
          <p:cNvSpPr txBox="1"/>
          <p:nvPr/>
        </p:nvSpPr>
        <p:spPr>
          <a:xfrm>
            <a:off x="1619862" y="1046513"/>
            <a:ext cx="8952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Classification (Logistic Regression &amp; Random Forest)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BE045-3F18-2E64-E49A-16EF9BA81CFC}"/>
              </a:ext>
            </a:extLst>
          </p:cNvPr>
          <p:cNvSpPr txBox="1"/>
          <p:nvPr/>
        </p:nvSpPr>
        <p:spPr>
          <a:xfrm>
            <a:off x="412953" y="1631288"/>
            <a:ext cx="1136609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Goal: </a:t>
            </a:r>
            <a:r>
              <a:rPr lang="en-IN" sz="1600" dirty="0"/>
              <a:t>Predict high-risk return transactions to support quality checks and proactive customer support.</a:t>
            </a:r>
          </a:p>
          <a:p>
            <a:pPr>
              <a:buNone/>
            </a:pPr>
            <a:endParaRPr lang="en-IN" sz="1600" dirty="0"/>
          </a:p>
          <a:p>
            <a:pPr>
              <a:buNone/>
            </a:pPr>
            <a:r>
              <a:rPr lang="en-IN" sz="1600" b="1" dirty="0"/>
              <a:t>Approach:</a:t>
            </a:r>
          </a:p>
          <a:p>
            <a:pPr>
              <a:buNone/>
            </a:pP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ML pipeline using </a:t>
            </a:r>
            <a:r>
              <a:rPr lang="en-IN" sz="1600" b="1" dirty="0"/>
              <a:t>Scikit-learn + SMOTE</a:t>
            </a:r>
            <a:r>
              <a:rPr lang="en-IN" sz="1600" dirty="0"/>
              <a:t> (inside Pipeline → no leakage)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21 engineered features</a:t>
            </a:r>
            <a:r>
              <a:rPr lang="en-IN" sz="1600" dirty="0"/>
              <a:t> across customer, product, store, transaction &amp; time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Baseline:</a:t>
            </a:r>
            <a:r>
              <a:rPr lang="en-IN" sz="1600" dirty="0"/>
              <a:t> Logistic Regression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Final Model:</a:t>
            </a:r>
            <a:r>
              <a:rPr lang="en-IN" sz="1600" dirty="0"/>
              <a:t> Random Forest Classifier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Threshold tuning:</a:t>
            </a:r>
            <a:r>
              <a:rPr lang="en-IN" sz="1600" dirty="0"/>
              <a:t> Youden’s J statistic</a:t>
            </a:r>
          </a:p>
          <a:p>
            <a:endParaRPr lang="en-IN" sz="1600" dirty="0"/>
          </a:p>
          <a:p>
            <a:pPr>
              <a:buNone/>
            </a:pPr>
            <a:r>
              <a:rPr lang="en-IN" sz="1600" b="1" dirty="0"/>
              <a:t>Evaluation Metrics: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Precision</a:t>
            </a:r>
            <a:r>
              <a:rPr lang="en-IN" sz="1600" dirty="0"/>
              <a:t> – correctness of predicted returns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Recall</a:t>
            </a:r>
            <a:r>
              <a:rPr lang="en-IN" sz="1600" dirty="0"/>
              <a:t> – ability to capture actual returns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F1-Score</a:t>
            </a:r>
            <a:r>
              <a:rPr lang="en-IN" sz="1600" dirty="0"/>
              <a:t> – balance for imbalanced classes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b="1" dirty="0"/>
              <a:t>ROC-AUC</a:t>
            </a:r>
            <a:r>
              <a:rPr lang="en-IN" sz="1600" dirty="0"/>
              <a:t> – overall model performance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None/>
            </a:pPr>
            <a:r>
              <a:rPr lang="en-IN" sz="1600" b="1" dirty="0"/>
              <a:t>Code:</a:t>
            </a:r>
          </a:p>
          <a:p>
            <a:pPr>
              <a:buNone/>
            </a:pPr>
            <a:endParaRPr lang="en-IN" sz="1600" b="1" dirty="0"/>
          </a:p>
          <a:p>
            <a:pPr>
              <a:buNone/>
            </a:pPr>
            <a:r>
              <a:rPr lang="en-IN" sz="1600" dirty="0"/>
              <a:t>GitHub → </a:t>
            </a:r>
            <a:r>
              <a:rPr lang="en-IN" sz="16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https://github.com/parvej1-7alam/WsCube-DAMP-ML-Capstone/blob/main/Notebooks/ML_Capstone_Part1.ipynb</a:t>
            </a:r>
            <a:endParaRPr lang="en-IN" sz="1600" dirty="0">
              <a:solidFill>
                <a:schemeClr val="accent1"/>
              </a:solidFill>
            </a:endParaRPr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C9DB6E53-6BD5-F402-B81C-B68831B28D60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765EA721-648E-A0CD-E770-2BD1A65A632A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251445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500381-0CB3-9894-D169-8DC926148F6C}"/>
              </a:ext>
            </a:extLst>
          </p:cNvPr>
          <p:cNvSpPr txBox="1"/>
          <p:nvPr/>
        </p:nvSpPr>
        <p:spPr>
          <a:xfrm>
            <a:off x="447367" y="925598"/>
            <a:ext cx="1167618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Goal:</a:t>
            </a:r>
            <a:r>
              <a:rPr lang="en-US" sz="1600" dirty="0"/>
              <a:t> Predict if a transaction will be returned.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Key Metrics: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Precision:</a:t>
            </a:r>
            <a:r>
              <a:rPr lang="en-US" sz="1600" dirty="0"/>
              <a:t> 0.30 (</a:t>
            </a:r>
            <a:r>
              <a:rPr lang="en-US" sz="1600" b="1" dirty="0"/>
              <a:t>LR</a:t>
            </a:r>
            <a:r>
              <a:rPr lang="en-US" sz="1600" dirty="0"/>
              <a:t>), 0.26 (</a:t>
            </a:r>
            <a:r>
              <a:rPr lang="en-US" sz="1600" b="1" dirty="0"/>
              <a:t>RF</a:t>
            </a:r>
            <a:r>
              <a:rPr lang="en-US" sz="1600" dirty="0"/>
              <a:t>) → Many predicted returns are false positives.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Recall:</a:t>
            </a:r>
            <a:r>
              <a:rPr lang="en-US" sz="1600" dirty="0"/>
              <a:t> 0.90 (</a:t>
            </a:r>
            <a:r>
              <a:rPr lang="en-US" sz="1600" b="1" dirty="0"/>
              <a:t>LR</a:t>
            </a:r>
            <a:r>
              <a:rPr lang="en-US" sz="1600" dirty="0"/>
              <a:t>), ~1.00 (</a:t>
            </a:r>
            <a:r>
              <a:rPr lang="en-US" sz="1600" b="1" dirty="0"/>
              <a:t>RF</a:t>
            </a:r>
            <a:r>
              <a:rPr lang="en-US" sz="1600" dirty="0"/>
              <a:t>) → Almost all actual returns are detected.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F1 Score:</a:t>
            </a:r>
            <a:r>
              <a:rPr lang="en-US" sz="1600" dirty="0"/>
              <a:t> 0.45 (</a:t>
            </a:r>
            <a:r>
              <a:rPr lang="en-US" sz="1600" b="1" dirty="0"/>
              <a:t>LR</a:t>
            </a:r>
            <a:r>
              <a:rPr lang="en-US" sz="1600" dirty="0"/>
              <a:t>), 0.41 (</a:t>
            </a:r>
            <a:r>
              <a:rPr lang="en-US" sz="1600" b="1" dirty="0"/>
              <a:t>RF</a:t>
            </a:r>
            <a:r>
              <a:rPr lang="en-US" sz="1600" dirty="0"/>
              <a:t>) → Balance between precision &amp; recall.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Accuracy:</a:t>
            </a:r>
            <a:r>
              <a:rPr lang="en-US" sz="1600" dirty="0"/>
              <a:t> 0.88 (</a:t>
            </a:r>
            <a:r>
              <a:rPr lang="en-US" sz="1600" b="1" dirty="0"/>
              <a:t>LR</a:t>
            </a:r>
            <a:r>
              <a:rPr lang="en-US" sz="1600" dirty="0"/>
              <a:t>), 0.85 (</a:t>
            </a:r>
            <a:r>
              <a:rPr lang="en-US" sz="1600" b="1" dirty="0"/>
              <a:t>RF</a:t>
            </a:r>
            <a:r>
              <a:rPr lang="en-US" sz="1600" dirty="0"/>
              <a:t>) → Misleading due to class imbalance.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ROC–AUC:</a:t>
            </a:r>
            <a:r>
              <a:rPr lang="en-US" sz="1600" dirty="0"/>
              <a:t> 0.952 → Excellent class separation for both models.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Interpretation:</a:t>
            </a:r>
          </a:p>
          <a:p>
            <a:pPr>
              <a:buNone/>
            </a:pPr>
            <a:endParaRPr lang="en-US" sz="1600" dirty="0"/>
          </a:p>
          <a:p>
            <a:r>
              <a:rPr lang="en-US" sz="1600" dirty="0"/>
              <a:t>Models are tuned to </a:t>
            </a:r>
            <a:r>
              <a:rPr lang="en-US" sz="1600" b="1" dirty="0"/>
              <a:t>maximize detection of returns</a:t>
            </a:r>
            <a:r>
              <a:rPr lang="en-US" sz="1600" dirty="0"/>
              <a:t>.</a:t>
            </a:r>
          </a:p>
          <a:p>
            <a:r>
              <a:rPr lang="en-US" sz="1600" b="1" dirty="0"/>
              <a:t>Logistic Regression:</a:t>
            </a:r>
            <a:r>
              <a:rPr lang="en-US" sz="1600" dirty="0"/>
              <a:t> More balanced, fewer false positives.</a:t>
            </a:r>
          </a:p>
          <a:p>
            <a:r>
              <a:rPr lang="en-US" sz="1600" b="1" dirty="0"/>
              <a:t>Random Forest:</a:t>
            </a:r>
            <a:r>
              <a:rPr lang="en-US" sz="1600" dirty="0"/>
              <a:t> Extremely high recall, slightly better ROC–AUC, more false positives.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Recommendation:</a:t>
            </a:r>
          </a:p>
          <a:p>
            <a:pPr>
              <a:buNone/>
            </a:pPr>
            <a:endParaRPr lang="en-US" sz="1600" dirty="0"/>
          </a:p>
          <a:p>
            <a:r>
              <a:rPr lang="en-US" sz="1600" b="1" dirty="0"/>
              <a:t>Prioritize recall → Random Forest</a:t>
            </a:r>
            <a:endParaRPr lang="en-US" sz="1600" dirty="0"/>
          </a:p>
          <a:p>
            <a:r>
              <a:rPr lang="en-US" sz="1600" b="1" dirty="0"/>
              <a:t>Prioritize balance/interpretability → Logistic Regression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Summary: </a:t>
            </a:r>
            <a:r>
              <a:rPr lang="en-US" sz="1600" dirty="0"/>
              <a:t>Both models effectively detect returns. Choice depends on whether </a:t>
            </a:r>
            <a:r>
              <a:rPr lang="en-US" sz="1600" b="1" dirty="0"/>
              <a:t>catching all returns</a:t>
            </a:r>
            <a:r>
              <a:rPr lang="en-US" sz="1600" dirty="0"/>
              <a:t> or </a:t>
            </a:r>
            <a:r>
              <a:rPr lang="en-US" sz="1600" b="1" dirty="0"/>
              <a:t>reducing false positives</a:t>
            </a:r>
            <a:r>
              <a:rPr lang="en-US" sz="1600" dirty="0"/>
              <a:t> is more important.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0522B-442D-5FAC-5764-6EBDF1433B99}"/>
              </a:ext>
            </a:extLst>
          </p:cNvPr>
          <p:cNvSpPr txBox="1"/>
          <p:nvPr/>
        </p:nvSpPr>
        <p:spPr>
          <a:xfrm>
            <a:off x="489343" y="-1223"/>
            <a:ext cx="115922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+mj-lt"/>
              </a:rPr>
              <a:t>Return Prediction Model – Evaluation &amp; Summary</a:t>
            </a:r>
            <a:endParaRPr lang="en-IN" sz="4400" b="1" dirty="0">
              <a:latin typeface="+mj-lt"/>
            </a:endParaRPr>
          </a:p>
        </p:txBody>
      </p:sp>
      <p:grpSp>
        <p:nvGrpSpPr>
          <p:cNvPr id="10" name="Group 12">
            <a:extLst>
              <a:ext uri="{FF2B5EF4-FFF2-40B4-BE49-F238E27FC236}">
                <a16:creationId xmlns:a16="http://schemas.microsoft.com/office/drawing/2014/main" id="{1C9E68EC-8FB3-FC11-A453-B9D965F3B28B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11579A5-69B6-190C-6080-A9BF1D87A2AC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72104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4F76-0D2F-DCA1-20AE-1FE207C8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CCC33-80E7-285B-5308-87CAE5DE8746}"/>
              </a:ext>
            </a:extLst>
          </p:cNvPr>
          <p:cNvSpPr txBox="1"/>
          <p:nvPr/>
        </p:nvSpPr>
        <p:spPr>
          <a:xfrm>
            <a:off x="2738281" y="9832"/>
            <a:ext cx="6715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+mj-lt"/>
              </a:rPr>
              <a:t>Monthly Demand Forecasting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80399-F8F2-8658-4184-90A8F1FC5AFB}"/>
              </a:ext>
            </a:extLst>
          </p:cNvPr>
          <p:cNvSpPr txBox="1"/>
          <p:nvPr/>
        </p:nvSpPr>
        <p:spPr>
          <a:xfrm>
            <a:off x="2063542" y="787883"/>
            <a:ext cx="8064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Gradient Boosting Regressor (Time Series ML)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3199E-6B4B-29E7-603B-5733351946F8}"/>
              </a:ext>
            </a:extLst>
          </p:cNvPr>
          <p:cNvSpPr txBox="1"/>
          <p:nvPr/>
        </p:nvSpPr>
        <p:spPr>
          <a:xfrm>
            <a:off x="309714" y="1269821"/>
            <a:ext cx="1157256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Goal: </a:t>
            </a:r>
            <a:r>
              <a:rPr lang="en-US" sz="1600" dirty="0"/>
              <a:t>Forecast monthly units sold for each Category × Country to improve inventory planning and reduce stockouts/overstocking.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Approach:</a:t>
            </a:r>
          </a:p>
          <a:p>
            <a:pPr>
              <a:buNone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Model Used: </a:t>
            </a:r>
            <a:r>
              <a:rPr lang="en-US" sz="1600" b="1" dirty="0"/>
              <a:t>Gradient Boosting Regressor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Monthly demand aggregated by </a:t>
            </a:r>
            <a:r>
              <a:rPr lang="en-US" sz="1600" b="1" dirty="0"/>
              <a:t>Category</a:t>
            </a:r>
            <a:r>
              <a:rPr lang="en-US" sz="1600" dirty="0"/>
              <a:t> and </a:t>
            </a:r>
            <a:r>
              <a:rPr lang="en-US" sz="1600" b="1" dirty="0"/>
              <a:t>Country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Feature Engineering:</a:t>
            </a:r>
            <a:endParaRPr lang="en-US" sz="1600" dirty="0"/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Lag features: Lag_1, Lag_2, Lag_3, Lag_12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Time features: Year, Month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Seasonality: Month_Sin, Month_Cos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Demand &amp; pricing behavior: Total_Sales, Avg_Unit_Price, Avg_Effective_Price, Avg_Discount, Total_Transactions, Total_Discounted_Transactions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sz="1600" dirty="0"/>
              <a:t>Category &amp; region: Category, Country</a:t>
            </a:r>
          </a:p>
          <a:p>
            <a:pPr marL="800100" lvl="1" indent="-342900">
              <a:buFont typeface="+mj-lt"/>
              <a:buAutoNum type="arabicParenR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Evaluation Metrics: </a:t>
            </a:r>
          </a:p>
          <a:p>
            <a:pPr>
              <a:buNone/>
            </a:pPr>
            <a:endParaRPr lang="en-US" sz="1600" b="1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MAPE</a:t>
            </a:r>
            <a:r>
              <a:rPr lang="en-US" sz="1600" dirty="0"/>
              <a:t> – Percent forecast accuracy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MSE</a:t>
            </a:r>
            <a:r>
              <a:rPr lang="en-US" sz="1600" dirty="0"/>
              <a:t> – Error magnitude across months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/>
          </a:p>
          <a:p>
            <a:pPr>
              <a:buNone/>
            </a:pPr>
            <a:r>
              <a:rPr lang="en-IN" sz="1600" b="1" dirty="0"/>
              <a:t>Code:</a:t>
            </a:r>
          </a:p>
          <a:p>
            <a:pPr>
              <a:buNone/>
            </a:pPr>
            <a:endParaRPr lang="en-IN" sz="1600" b="1" dirty="0"/>
          </a:p>
          <a:p>
            <a:pPr>
              <a:buNone/>
            </a:pPr>
            <a:r>
              <a:rPr lang="en-IN" sz="1600" dirty="0"/>
              <a:t>GitHub → </a:t>
            </a:r>
            <a:r>
              <a:rPr lang="en-IN" sz="16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https://github.com/parvej1-7alam/WsCube-DAMP-ML-Capstone/blob/main/Notebooks/ML_Capstone_Part2.ipynb</a:t>
            </a:r>
            <a:endParaRPr lang="en-IN" sz="1600" dirty="0">
              <a:solidFill>
                <a:schemeClr val="accent1"/>
              </a:solidFill>
            </a:endParaRPr>
          </a:p>
        </p:txBody>
      </p:sp>
      <p:grpSp>
        <p:nvGrpSpPr>
          <p:cNvPr id="7" name="Group 12">
            <a:extLst>
              <a:ext uri="{FF2B5EF4-FFF2-40B4-BE49-F238E27FC236}">
                <a16:creationId xmlns:a16="http://schemas.microsoft.com/office/drawing/2014/main" id="{991597A7-BAA2-319E-34F9-E5DE6673F712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7C0CB4F7-94F4-0BCE-3997-CB30D4759283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6043041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0478-2345-CE2B-02DE-1FDEB6F27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36C7F55-36E8-F67C-CFCB-5063D98C0F31}"/>
              </a:ext>
            </a:extLst>
          </p:cNvPr>
          <p:cNvSpPr txBox="1"/>
          <p:nvPr/>
        </p:nvSpPr>
        <p:spPr>
          <a:xfrm>
            <a:off x="1" y="0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+mj-lt"/>
              </a:rPr>
              <a:t>Monthly Demand Forecasting</a:t>
            </a:r>
            <a:r>
              <a:rPr lang="en-US" sz="4400" b="1" dirty="0"/>
              <a:t> – </a:t>
            </a:r>
            <a:r>
              <a:rPr lang="en-US" sz="4400" b="1" dirty="0">
                <a:latin typeface="+mj-lt"/>
              </a:rPr>
              <a:t>Evaluation &amp; Summary</a:t>
            </a:r>
            <a:endParaRPr lang="en-IN" sz="4400" b="1" dirty="0">
              <a:latin typeface="+mj-lt"/>
            </a:endParaRPr>
          </a:p>
        </p:txBody>
      </p:sp>
      <p:grpSp>
        <p:nvGrpSpPr>
          <p:cNvPr id="10" name="Group 12">
            <a:extLst>
              <a:ext uri="{FF2B5EF4-FFF2-40B4-BE49-F238E27FC236}">
                <a16:creationId xmlns:a16="http://schemas.microsoft.com/office/drawing/2014/main" id="{9AFAC65A-FAD6-0A64-7835-B9C3830614F6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FA0DF86-E1E5-CC6B-E4B6-95F527FB28F4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E815103-355E-03AF-230E-B24E087EDBDD}"/>
              </a:ext>
            </a:extLst>
          </p:cNvPr>
          <p:cNvSpPr txBox="1"/>
          <p:nvPr/>
        </p:nvSpPr>
        <p:spPr>
          <a:xfrm>
            <a:off x="98323" y="787883"/>
            <a:ext cx="1199535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Goal:</a:t>
            </a:r>
            <a:r>
              <a:rPr lang="en-US" sz="1600" dirty="0"/>
              <a:t> Predict monthly units sold for each Category × Country segment.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Key Metrics: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RMSE: 181.73</a:t>
            </a:r>
            <a:r>
              <a:rPr lang="en-US" sz="1600" dirty="0"/>
              <a:t>→ Average prediction error is about ±182 units — low relative to overall demand scale.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MAPE: 1.12% </a:t>
            </a:r>
            <a:r>
              <a:rPr lang="en-US" sz="1600" dirty="0"/>
              <a:t>→ Excellent accuracy; predictions deviate from actual values by only ~1%.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Interpretation: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Model captures </a:t>
            </a:r>
            <a:r>
              <a:rPr lang="en-US" sz="1600" b="1" dirty="0"/>
              <a:t>trend</a:t>
            </a:r>
            <a:r>
              <a:rPr lang="en-US" sz="1600" dirty="0"/>
              <a:t>, </a:t>
            </a:r>
            <a:r>
              <a:rPr lang="en-US" sz="1600" b="1" dirty="0"/>
              <a:t>seasonality</a:t>
            </a:r>
            <a:r>
              <a:rPr lang="en-US" sz="1600" dirty="0"/>
              <a:t>, and </a:t>
            </a:r>
            <a:r>
              <a:rPr lang="en-US" sz="1600" b="1" dirty="0"/>
              <a:t>non-linear patterns</a:t>
            </a:r>
            <a:r>
              <a:rPr lang="en-US" sz="1600" dirty="0"/>
              <a:t> effectively.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Lag features (Lag_1, Lag_2, Lag_3, Lag_12) strongly drive predictive power.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Cyclical features (Month_Sin, Month_Cos) help the model recognize smooth month-to-month transitions.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Pricing &amp; sales features improve model sensitivity to promotion-driven demand changes.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Extremely low MAPE indicates </a:t>
            </a:r>
            <a:r>
              <a:rPr lang="en-US" sz="1600" b="1" dirty="0"/>
              <a:t>high reliability</a:t>
            </a:r>
            <a:r>
              <a:rPr lang="en-US" sz="1600" dirty="0"/>
              <a:t> across all segments.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Recommendation: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Gradient Boosting</a:t>
            </a:r>
            <a:r>
              <a:rPr lang="en-US" sz="1600" dirty="0"/>
              <a:t> remains the best model due to strong performance on:</a:t>
            </a:r>
            <a:br>
              <a:rPr lang="en-US" sz="1600" dirty="0"/>
            </a:br>
            <a:r>
              <a:rPr lang="en-US" sz="1600" b="1" dirty="0"/>
              <a:t>1)</a:t>
            </a:r>
            <a:r>
              <a:rPr lang="en-US" sz="1600" dirty="0"/>
              <a:t> Non-linear seasonal patterns</a:t>
            </a:r>
            <a:br>
              <a:rPr lang="en-US" sz="1600" dirty="0"/>
            </a:br>
            <a:r>
              <a:rPr lang="en-US" sz="1600" b="1" dirty="0"/>
              <a:t>2)</a:t>
            </a:r>
            <a:r>
              <a:rPr lang="en-US" sz="1600" dirty="0"/>
              <a:t> Cross-category variability</a:t>
            </a:r>
            <a:br>
              <a:rPr lang="en-US" sz="1600" dirty="0"/>
            </a:br>
            <a:r>
              <a:rPr lang="en-US" sz="1600" b="1" dirty="0"/>
              <a:t>3)</a:t>
            </a:r>
            <a:r>
              <a:rPr lang="en-US" sz="1600" dirty="0"/>
              <a:t> Price/demand interactions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Can be confidently used for inventory planning and demand-driven procurement.</a:t>
            </a: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Summary:</a:t>
            </a:r>
          </a:p>
          <a:p>
            <a:pPr>
              <a:buNone/>
            </a:pPr>
            <a:r>
              <a:rPr lang="en-US" sz="1600" dirty="0"/>
              <a:t>The Gradient Boosting Regressor delivers </a:t>
            </a:r>
            <a:r>
              <a:rPr lang="en-US" sz="1600" b="1" dirty="0"/>
              <a:t>highly accurate monthly forecasts</a:t>
            </a:r>
            <a:r>
              <a:rPr lang="en-US" sz="1600" dirty="0"/>
              <a:t> with minimal percentage error.</a:t>
            </a:r>
            <a:br>
              <a:rPr lang="en-US" sz="1600" dirty="0"/>
            </a:br>
            <a:r>
              <a:rPr lang="en-US" sz="1600" dirty="0"/>
              <a:t>Its ability to learn trends, seasonal behavior, and lag relationships makes it a reliable tool for operational planning, stocking decisions, and supply chain optimization.</a:t>
            </a:r>
          </a:p>
        </p:txBody>
      </p:sp>
    </p:spTree>
    <p:extLst>
      <p:ext uri="{BB962C8B-B14F-4D97-AF65-F5344CB8AC3E}">
        <p14:creationId xmlns:p14="http://schemas.microsoft.com/office/powerpoint/2010/main" val="32980834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2">
            <a:extLst>
              <a:ext uri="{FF2B5EF4-FFF2-40B4-BE49-F238E27FC236}">
                <a16:creationId xmlns:a16="http://schemas.microsoft.com/office/drawing/2014/main" id="{57FFA524-20D3-4CD8-FB32-64408C399792}"/>
              </a:ext>
            </a:extLst>
          </p:cNvPr>
          <p:cNvGrpSpPr/>
          <p:nvPr/>
        </p:nvGrpSpPr>
        <p:grpSpPr>
          <a:xfrm>
            <a:off x="98323" y="787883"/>
            <a:ext cx="11995354" cy="5982528"/>
            <a:chOff x="0" y="0"/>
            <a:chExt cx="16854971" cy="16422712"/>
          </a:xfrm>
          <a:solidFill>
            <a:schemeClr val="tx1"/>
          </a:solidFill>
        </p:grpSpPr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BEADF67A-EC05-4573-2E91-AD13B35D57F8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BAC6A42-660E-7E0E-E929-677651588717}"/>
              </a:ext>
            </a:extLst>
          </p:cNvPr>
          <p:cNvSpPr txBox="1"/>
          <p:nvPr/>
        </p:nvSpPr>
        <p:spPr>
          <a:xfrm>
            <a:off x="1236406" y="0"/>
            <a:ext cx="9719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+mj-lt"/>
              </a:rPr>
              <a:t>Final Strategic Recommendations (Overall)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D524578-2C6C-F7CC-F671-32CB8D2F8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6406" y="920621"/>
            <a:ext cx="732503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Optimize inventory planning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ML demand forecasts → reduce stockouts, lower excess stock, and improve availability of top categories.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returns proactively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the Return Prediction model → trigger quality checks, flag risky products, and pre-alert customer support teams.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Strengthen regional strategies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based on SQL + BI insights → invest more in high-performing cities, and support growing markets with targeted promotions.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Refine promotion planning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analyzing discount effectiveness → focus discounts on categories with strong uplift (e.g., Children).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 customer retention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leveraging loyalty insights → reward repeat customers, introduce segment-based pricing/communication.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product assortment &amp; pricing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category-level revenue, return trends, and forecasting outputs.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dashboards for continuous monitoring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enable leadership to track KPIs, dive into store-level issues, and make fast data-driven decisions.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ECA35-60D0-7E50-DD88-A43EFD7C7061}"/>
              </a:ext>
            </a:extLst>
          </p:cNvPr>
          <p:cNvSpPr txBox="1"/>
          <p:nvPr/>
        </p:nvSpPr>
        <p:spPr>
          <a:xfrm>
            <a:off x="452283" y="6061507"/>
            <a:ext cx="112874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This integrated analytics solution empowers Global Fashion Retail to grow revenue, reduce returns, optimize inventory, and deliver a superior customer experience.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429154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FB58-CA4F-57E9-39DA-E09656DCE2B7}"/>
              </a:ext>
            </a:extLst>
          </p:cNvPr>
          <p:cNvSpPr txBox="1">
            <a:spLocks/>
          </p:cNvSpPr>
          <p:nvPr/>
        </p:nvSpPr>
        <p:spPr>
          <a:xfrm>
            <a:off x="4200219" y="359023"/>
            <a:ext cx="3790330" cy="80952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E4E165-4D3E-104C-078E-5A6FDC53F8E6}"/>
              </a:ext>
            </a:extLst>
          </p:cNvPr>
          <p:cNvGrpSpPr/>
          <p:nvPr/>
        </p:nvGrpSpPr>
        <p:grpSpPr>
          <a:xfrm>
            <a:off x="3130344" y="3885617"/>
            <a:ext cx="5930079" cy="2071540"/>
            <a:chOff x="3106994" y="3954442"/>
            <a:chExt cx="5930079" cy="207154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6F5EF90-5C63-3F5D-586C-3023C9733B4C}"/>
                </a:ext>
              </a:extLst>
            </p:cNvPr>
            <p:cNvGrpSpPr/>
            <p:nvPr/>
          </p:nvGrpSpPr>
          <p:grpSpPr>
            <a:xfrm>
              <a:off x="3138903" y="4561544"/>
              <a:ext cx="5898170" cy="1464438"/>
              <a:chOff x="2862987" y="3903286"/>
              <a:chExt cx="5898170" cy="1464438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AE67D76-DA77-2C18-7BCA-6B29A3D60D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82651" y="4482906"/>
                <a:ext cx="391490" cy="39149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96E0396-C411-4B59-64F6-7C6688933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62987" y="3903286"/>
                <a:ext cx="391490" cy="391490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2BC38B-081C-4B95-193E-FB8DD2EEC5BC}"/>
                  </a:ext>
                </a:extLst>
              </p:cNvPr>
              <p:cNvSpPr txBox="1"/>
              <p:nvPr/>
            </p:nvSpPr>
            <p:spPr>
              <a:xfrm>
                <a:off x="3254477" y="4495232"/>
                <a:ext cx="550668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https://www.linkedin.com/in/parvej-alam17/</a:t>
                </a:r>
                <a:endParaRPr lang="en-IN" sz="16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1B6F4A-4ADB-A3C7-5B3A-3431C0EE353D}"/>
                  </a:ext>
                </a:extLst>
              </p:cNvPr>
              <p:cNvSpPr txBox="1"/>
              <p:nvPr/>
            </p:nvSpPr>
            <p:spPr>
              <a:xfrm>
                <a:off x="3283359" y="3925444"/>
                <a:ext cx="29693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6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parvejalam17knp@gmail.com</a:t>
                </a:r>
                <a:endParaRPr lang="en-IN" sz="16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0A05A5-95CC-D02F-5CF7-592A2D88AD88}"/>
                  </a:ext>
                </a:extLst>
              </p:cNvPr>
              <p:cNvSpPr txBox="1"/>
              <p:nvPr/>
            </p:nvSpPr>
            <p:spPr>
              <a:xfrm>
                <a:off x="3283359" y="5029170"/>
                <a:ext cx="338598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https://github.com/parvej1-7alam</a:t>
                </a:r>
                <a:endParaRPr lang="en-IN" sz="16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CF01EA1-2B03-8D88-5233-5572D6AF6FE2}"/>
                </a:ext>
              </a:extLst>
            </p:cNvPr>
            <p:cNvSpPr txBox="1"/>
            <p:nvPr/>
          </p:nvSpPr>
          <p:spPr>
            <a:xfrm>
              <a:off x="3106994" y="3954442"/>
              <a:ext cx="5751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Your feedback is valuable -Feel free to connect me here: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FA9E847-8283-E065-4C67-43937F160C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4875" y="5384757"/>
            <a:ext cx="806245" cy="806245"/>
          </a:xfrm>
          <a:prstGeom prst="rect">
            <a:avLst/>
          </a:prstGeom>
        </p:spPr>
      </p:pic>
      <p:grpSp>
        <p:nvGrpSpPr>
          <p:cNvPr id="14" name="Group 12">
            <a:extLst>
              <a:ext uri="{FF2B5EF4-FFF2-40B4-BE49-F238E27FC236}">
                <a16:creationId xmlns:a16="http://schemas.microsoft.com/office/drawing/2014/main" id="{9E7D60AC-6504-5171-B15C-8AB0720F6011}"/>
              </a:ext>
            </a:extLst>
          </p:cNvPr>
          <p:cNvGrpSpPr/>
          <p:nvPr/>
        </p:nvGrpSpPr>
        <p:grpSpPr>
          <a:xfrm>
            <a:off x="98323" y="68826"/>
            <a:ext cx="11995354" cy="6701585"/>
            <a:chOff x="0" y="0"/>
            <a:chExt cx="16854971" cy="16422712"/>
          </a:xfrm>
          <a:solidFill>
            <a:schemeClr val="tx1"/>
          </a:solidFill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05E451C-B8DF-672D-FF05-80346EA5C2A0}"/>
                </a:ext>
              </a:extLst>
            </p:cNvPr>
            <p:cNvSpPr/>
            <p:nvPr/>
          </p:nvSpPr>
          <p:spPr>
            <a:xfrm>
              <a:off x="0" y="0"/>
              <a:ext cx="16854971" cy="16422712"/>
            </a:xfrm>
            <a:custGeom>
              <a:avLst/>
              <a:gdLst/>
              <a:ahLst/>
              <a:cxnLst/>
              <a:rect l="l" t="t" r="r" b="b"/>
              <a:pathLst>
                <a:path w="16854971" h="16422712">
                  <a:moveTo>
                    <a:pt x="16730511" y="59690"/>
                  </a:moveTo>
                  <a:cubicBezTo>
                    <a:pt x="16766071" y="59690"/>
                    <a:pt x="16795280" y="88900"/>
                    <a:pt x="16795280" y="124460"/>
                  </a:cubicBezTo>
                  <a:lnTo>
                    <a:pt x="16795280" y="16298252"/>
                  </a:lnTo>
                  <a:cubicBezTo>
                    <a:pt x="16795280" y="16333812"/>
                    <a:pt x="16766071" y="16363021"/>
                    <a:pt x="16730511" y="16363021"/>
                  </a:cubicBezTo>
                  <a:lnTo>
                    <a:pt x="124460" y="16363021"/>
                  </a:lnTo>
                  <a:cubicBezTo>
                    <a:pt x="88900" y="16363021"/>
                    <a:pt x="59690" y="16333812"/>
                    <a:pt x="59690" y="16298252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6730511" y="59690"/>
                  </a:lnTo>
                  <a:moveTo>
                    <a:pt x="16730511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6298252"/>
                  </a:lnTo>
                  <a:cubicBezTo>
                    <a:pt x="0" y="16366832"/>
                    <a:pt x="55880" y="16422712"/>
                    <a:pt x="124460" y="16422712"/>
                  </a:cubicBezTo>
                  <a:lnTo>
                    <a:pt x="16730511" y="16422712"/>
                  </a:lnTo>
                  <a:cubicBezTo>
                    <a:pt x="16799091" y="16422712"/>
                    <a:pt x="16854971" y="16366832"/>
                    <a:pt x="16854971" y="16298252"/>
                  </a:cubicBezTo>
                  <a:lnTo>
                    <a:pt x="16854971" y="124460"/>
                  </a:lnTo>
                  <a:cubicBezTo>
                    <a:pt x="16854971" y="55880"/>
                    <a:pt x="16799091" y="0"/>
                    <a:pt x="16730511" y="0"/>
                  </a:cubicBez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18" name="Google Shape;288;p37">
            <a:extLst>
              <a:ext uri="{FF2B5EF4-FFF2-40B4-BE49-F238E27FC236}">
                <a16:creationId xmlns:a16="http://schemas.microsoft.com/office/drawing/2014/main" id="{83B2CB3B-2882-D04F-0750-417AC01E3C60}"/>
              </a:ext>
            </a:extLst>
          </p:cNvPr>
          <p:cNvSpPr/>
          <p:nvPr/>
        </p:nvSpPr>
        <p:spPr>
          <a:xfrm>
            <a:off x="4975939" y="1236546"/>
            <a:ext cx="2238889" cy="2123041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85750" dist="285750" dir="78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400" dirty="0"/>
              <a:t>zzzz</a:t>
            </a:r>
            <a:endParaRPr sz="2400" dirty="0"/>
          </a:p>
        </p:txBody>
      </p:sp>
      <p:pic>
        <p:nvPicPr>
          <p:cNvPr id="16" name="Picture Placeholder 8">
            <a:extLst>
              <a:ext uri="{FF2B5EF4-FFF2-40B4-BE49-F238E27FC236}">
                <a16:creationId xmlns:a16="http://schemas.microsoft.com/office/drawing/2014/main" id="{2309DD24-1A5F-862B-122E-2ACC9E294E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3" r="9723"/>
          <a:stretch>
            <a:fillRect/>
          </a:stretch>
        </p:blipFill>
        <p:spPr>
          <a:xfrm>
            <a:off x="5023402" y="1300768"/>
            <a:ext cx="2143962" cy="1994596"/>
          </a:xfrm>
          <a:prstGeom prst="ellipse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3679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4374</Words>
  <Application>Microsoft Office PowerPoint</Application>
  <PresentationFormat>Widescreen</PresentationFormat>
  <Paragraphs>715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Times New Roman</vt:lpstr>
      <vt:lpstr>Wingdings</vt:lpstr>
      <vt:lpstr>Office Theme</vt:lpstr>
      <vt:lpstr>Global Fashion Retail Analytics Capstone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Faiyyaz Alam</dc:creator>
  <cp:lastModifiedBy>Faiyyaz Alam</cp:lastModifiedBy>
  <cp:revision>70</cp:revision>
  <dcterms:created xsi:type="dcterms:W3CDTF">2025-11-05T06:55:34Z</dcterms:created>
  <dcterms:modified xsi:type="dcterms:W3CDTF">2025-11-29T04:26:16Z</dcterms:modified>
</cp:coreProperties>
</file>